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100" kern="0" dirty="0">
                <a:solidFill>
                  <a:srgbClr val="ECEA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PRISM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105156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BA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Resources &amp; Interview Skill Manager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51560" y="3977640"/>
            <a:ext cx="3246120" cy="457200"/>
          </a:xfrm>
          <a:prstGeom prst="rect">
            <a:avLst/>
          </a:prstGeom>
          <a:solidFill>
            <a:srgbClr val="1C262B"/>
          </a:solidFill>
          <a:ln w="12700">
            <a:solidFill>
              <a:srgbClr val="6FB9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39776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F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   ·   INTERNSHIP REVIEW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5029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 Melvin Denish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BA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 ·  3rd Year  ·  June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46304" cy="14630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12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20240"/>
            <a:ext cx="54864" cy="841248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20240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6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91640" y="1920240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PRISM is — the big picture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5212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920240"/>
            <a:ext cx="54864" cy="841248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920240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6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269480" y="1920240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objectives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3054096"/>
            <a:ext cx="5212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054096"/>
            <a:ext cx="54864" cy="841248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054096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6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691640" y="3054096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roles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217920" y="3054096"/>
            <a:ext cx="5212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3054096"/>
            <a:ext cx="54864" cy="841248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3054096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6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269480" y="3054096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workflows &amp; flowcharts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40080" y="4187952"/>
            <a:ext cx="5212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4187952"/>
            <a:ext cx="54864" cy="841248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187952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6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691640" y="4187952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technology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217920" y="4187952"/>
            <a:ext cx="5212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4187952"/>
            <a:ext cx="54864" cy="841248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4187952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6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269480" y="4187952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+ 18-schema reference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40080" y="5321808"/>
            <a:ext cx="5212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" y="5321808"/>
            <a:ext cx="54864" cy="841248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5321808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6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691640" y="5321808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implementation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6217920" y="5321808"/>
            <a:ext cx="5212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7920" y="5321808"/>
            <a:ext cx="54864" cy="841248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0" y="5321808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6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7269480" y="5321808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done + what’s next (new features)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·  Placement Resources &amp; Interview Skill Manager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46304" cy="14630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UNDERSTANDING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PRISM?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the entire campus-placement preparation journey.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240280"/>
            <a:ext cx="54864" cy="137160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24414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Mentorship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9536" y="291693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sessions with seniors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93008" y="224028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93008" y="2240280"/>
            <a:ext cx="54864" cy="137160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12" name="Text 10"/>
          <p:cNvSpPr/>
          <p:nvPr/>
        </p:nvSpPr>
        <p:spPr>
          <a:xfrm>
            <a:off x="3712464" y="24414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Mock interviews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12464" y="291693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mentor-hosted practice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45936" y="224028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45936" y="2240280"/>
            <a:ext cx="54864" cy="137160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16" name="Text 14"/>
          <p:cNvSpPr/>
          <p:nvPr/>
        </p:nvSpPr>
        <p:spPr>
          <a:xfrm>
            <a:off x="6565392" y="24414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interview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65392" y="291693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interviewer + evaluation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98864" y="224028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98864" y="2240280"/>
            <a:ext cx="54864" cy="137160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20" name="Text 18"/>
          <p:cNvSpPr/>
          <p:nvPr/>
        </p:nvSpPr>
        <p:spPr>
          <a:xfrm>
            <a:off x="9418320" y="24414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Interview Game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418320" y="291693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6-round placement simulation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88620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3886200"/>
            <a:ext cx="54864" cy="137160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24" name="Text 22"/>
          <p:cNvSpPr/>
          <p:nvPr/>
        </p:nvSpPr>
        <p:spPr>
          <a:xfrm>
            <a:off x="859536" y="40873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Résumé tools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59536" y="456285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+ ATS analysis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93008" y="388620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93008" y="3886200"/>
            <a:ext cx="54864" cy="137160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28" name="Text 26"/>
          <p:cNvSpPr/>
          <p:nvPr/>
        </p:nvSpPr>
        <p:spPr>
          <a:xfrm>
            <a:off x="3712464" y="40873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Coding sandbox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712464" y="456285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languages, test cases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45936" y="388620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45936" y="3886200"/>
            <a:ext cx="54864" cy="137160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2" name="Text 30"/>
          <p:cNvSpPr/>
          <p:nvPr/>
        </p:nvSpPr>
        <p:spPr>
          <a:xfrm>
            <a:off x="6565392" y="40873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565392" y="456285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Mentor-verified library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198864" y="388620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198864" y="3886200"/>
            <a:ext cx="54864" cy="137160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6" name="Text 34"/>
          <p:cNvSpPr/>
          <p:nvPr/>
        </p:nvSpPr>
        <p:spPr>
          <a:xfrm>
            <a:off x="9418320" y="40873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418320" y="456285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real progress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·  Placement Resources &amp; Interview Skill Manager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46304" cy="14630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UNDERSTANDING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Big Picture — One Measurable Loop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i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turns scattered, unverified placement prep into a single loop where every attempt is scored — so a student can finally see whether they are improving.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95728"/>
            <a:ext cx="18745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875">
            <a:solidFill>
              <a:srgbClr val="0F6E63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5146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2871216"/>
            <a:ext cx="1655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Curated, mentor-verified resources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32888" y="3104388"/>
            <a:ext cx="347472" cy="0"/>
          </a:xfrm>
          <a:prstGeom prst="line">
            <a:avLst/>
          </a:prstGeom>
          <a:noFill/>
          <a:ln w="20320">
            <a:solidFill>
              <a:srgbClr val="0F6E6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98648" y="2395728"/>
            <a:ext cx="18745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875">
            <a:solidFill>
              <a:srgbClr val="0F6E63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90088" y="25146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08376" y="2871216"/>
            <a:ext cx="1655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· AI interview · 6-round game · coding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91456" y="3104388"/>
            <a:ext cx="347472" cy="0"/>
          </a:xfrm>
          <a:prstGeom prst="line">
            <a:avLst/>
          </a:prstGeom>
          <a:noFill/>
          <a:ln w="20320">
            <a:solidFill>
              <a:srgbClr val="0F6E6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57216" y="2395728"/>
            <a:ext cx="18745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875">
            <a:solidFill>
              <a:srgbClr val="0F6E63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48656" y="25146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feedback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66944" y="2871216"/>
            <a:ext cx="1655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scorecards + AI evaluation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050024" y="3104388"/>
            <a:ext cx="347472" cy="0"/>
          </a:xfrm>
          <a:prstGeom prst="line">
            <a:avLst/>
          </a:prstGeom>
          <a:noFill/>
          <a:ln w="20320">
            <a:solidFill>
              <a:srgbClr val="0F6E6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15784" y="2395728"/>
            <a:ext cx="18745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875">
            <a:solidFill>
              <a:srgbClr val="0F6E63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507224" y="25146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525512" y="2871216"/>
            <a:ext cx="1655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across 5 skill pillars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308592" y="3104388"/>
            <a:ext cx="347472" cy="0"/>
          </a:xfrm>
          <a:prstGeom prst="line">
            <a:avLst/>
          </a:prstGeom>
          <a:noFill/>
          <a:ln w="20320">
            <a:solidFill>
              <a:srgbClr val="0F6E6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74352" y="2395728"/>
            <a:ext cx="18745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875">
            <a:solidFill>
              <a:srgbClr val="0F6E63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765792" y="25146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784080" y="2871216"/>
            <a:ext cx="1655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 daily plan — then repeat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577340" y="3813048"/>
            <a:ext cx="0" cy="457200"/>
          </a:xfrm>
          <a:prstGeom prst="line">
            <a:avLst/>
          </a:prstGeom>
          <a:noFill/>
          <a:ln w="17780">
            <a:solidFill>
              <a:srgbClr val="3C4A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611612" y="3813048"/>
            <a:ext cx="0" cy="457200"/>
          </a:xfrm>
          <a:prstGeom prst="line">
            <a:avLst/>
          </a:prstGeom>
          <a:noFill/>
          <a:ln w="17780">
            <a:solidFill>
              <a:srgbClr val="3C4A5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77340" y="4270248"/>
            <a:ext cx="9034272" cy="0"/>
          </a:xfrm>
          <a:prstGeom prst="line">
            <a:avLst/>
          </a:prstGeom>
          <a:noFill/>
          <a:ln w="17780">
            <a:solidFill>
              <a:srgbClr val="3C4A52"/>
            </a:solidFill>
            <a:prstDash val="solid"/>
            <a:headEnd type="triangle"/>
          </a:ln>
        </p:spPr>
      </p:sp>
      <p:sp>
        <p:nvSpPr>
          <p:cNvPr id="28" name="Text 26"/>
          <p:cNvSpPr/>
          <p:nvPr/>
        </p:nvSpPr>
        <p:spPr>
          <a:xfrm>
            <a:off x="1577340" y="4315968"/>
            <a:ext cx="9034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continuous loop — each pass raises readiness and reshapes the next daily plan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" y="5120640"/>
            <a:ext cx="1091153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" y="5120640"/>
            <a:ext cx="54864" cy="77724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512064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engines drive the loop:  </a:t>
            </a:r>
            <a:pPr indent="0" marL="0">
              <a:buNone/>
            </a:pPr>
            <a:r>
              <a:rPr lang="en-US" sz="14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(human depth, trust, real feedback) and always-on AI (practice + evaluation any time) — with analytics turning effort into a number.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·  Placement Resources &amp; Interview Skill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46304" cy="14630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MOTIVATION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204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11680"/>
            <a:ext cx="54864" cy="2286000"/>
          </a:xfrm>
          <a:prstGeom prst="rect">
            <a:avLst/>
          </a:prstGeom>
          <a:solidFill>
            <a:srgbClr val="3C4A52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2402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C4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96112" y="29443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Fragmented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96112" y="345643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across WhatsApp groups, random PDFs, and a dozen separate sites.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2011680"/>
            <a:ext cx="35204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2011680"/>
            <a:ext cx="54864" cy="2286000"/>
          </a:xfrm>
          <a:prstGeom prst="rect">
            <a:avLst/>
          </a:prstGeom>
          <a:solidFill>
            <a:srgbClr val="3C4A52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22402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C4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828032" y="29443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Unverified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28032" y="345643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trusted, mentor-vetted source of resources or questions.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03920" y="2011680"/>
            <a:ext cx="35204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03920" y="2011680"/>
            <a:ext cx="54864" cy="2286000"/>
          </a:xfrm>
          <a:prstGeom prst="rect">
            <a:avLst/>
          </a:prstGeom>
          <a:solidFill>
            <a:srgbClr val="3C4A52"/>
          </a:solidFill>
          <a:ln/>
        </p:spPr>
      </p:sp>
      <p:sp>
        <p:nvSpPr>
          <p:cNvPr id="17" name="Text 15"/>
          <p:cNvSpPr/>
          <p:nvPr/>
        </p:nvSpPr>
        <p:spPr>
          <a:xfrm>
            <a:off x="8759952" y="22402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C4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759952" y="29443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Unmeasured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759952" y="345643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student nor department can see if preparation is working.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617720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617720"/>
            <a:ext cx="54864" cy="73152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61772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</a:t>
            </a:r>
            <a:pPr algn="l" indent="0" marL="0">
              <a:buNone/>
            </a:pPr>
            <a:r>
              <a:rPr lang="en-US" sz="1600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one role-based, auditable platform that fixes all three.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·  Placement Resources &amp; Interview Skill Manager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46304" cy="14630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49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20240"/>
            <a:ext cx="54864" cy="347472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7" name="Shape 5"/>
          <p:cNvSpPr/>
          <p:nvPr/>
        </p:nvSpPr>
        <p:spPr>
          <a:xfrm>
            <a:off x="6355080" y="1920240"/>
            <a:ext cx="5349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355080" y="1920240"/>
            <a:ext cx="54864" cy="3474720"/>
          </a:xfrm>
          <a:prstGeom prst="rect">
            <a:avLst/>
          </a:prstGeom>
          <a:solidFill>
            <a:srgbClr val="3C4A52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219456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mentees with mentors (book → meet → feedback → rate)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1:1 AND 1:many teaching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practice without a human always present (AI)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students build strong, ATS-ready résumés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47688" y="21945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trusted resource library + AI learning paths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student progress visible and measurable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safe &amp; reliable enough for real, college-wide use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47688" y="4846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Week 1 engineering focus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·  Placement Resources &amp; Interview Skill Manager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46304" cy="14630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UNDERSTANDING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 — Three Roles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20240"/>
            <a:ext cx="54864" cy="320040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579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Mentee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6334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student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32688" y="301752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mentorship sessions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AI interviews &amp; the Game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analyze résumés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resources, track progress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920240"/>
            <a:ext cx="35204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920240"/>
            <a:ext cx="54864" cy="320040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1579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Mentor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46320" y="26334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Senior / placed / faculty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64608" y="301752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availability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1:1 and group mocks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trusted resources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structured feedback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03920" y="1920240"/>
            <a:ext cx="35204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03920" y="1920240"/>
            <a:ext cx="54864" cy="320040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17" name="Text 15"/>
          <p:cNvSpPr/>
          <p:nvPr/>
        </p:nvSpPr>
        <p:spPr>
          <a:xfrm>
            <a:off x="8778240" y="21579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778240" y="26334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Placement coordinator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796528" y="301752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 &amp; content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topics / companies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the platform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platform-wide analytics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3492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are enforced on the SERVER, on every action.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·  Placement Resources &amp; Interview Skill Manager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46304" cy="14630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PROPOSED WORKFLOW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PRISM Works — End to End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backbone for everyone: join, prepare one of three ways, get scored, and watch your readiness move.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228600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5875">
            <a:solidFill>
              <a:srgbClr val="0F6E63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3134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Join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67004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· pick role · profile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44368" y="2697480"/>
            <a:ext cx="512064" cy="0"/>
          </a:xfrm>
          <a:prstGeom prst="line">
            <a:avLst/>
          </a:prstGeom>
          <a:noFill/>
          <a:ln w="20320">
            <a:solidFill>
              <a:srgbClr val="0F6E6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74720" y="2194560"/>
            <a:ext cx="228600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5875">
            <a:solidFill>
              <a:srgbClr val="3C4A52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66160" y="23134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Prepare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584448" y="267004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track  (below)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79008" y="2697480"/>
            <a:ext cx="512064" cy="0"/>
          </a:xfrm>
          <a:prstGeom prst="line">
            <a:avLst/>
          </a:prstGeom>
          <a:noFill/>
          <a:ln w="20320">
            <a:solidFill>
              <a:srgbClr val="0F6E6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09360" y="2194560"/>
            <a:ext cx="228600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5875">
            <a:solidFill>
              <a:srgbClr val="0F6E63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23134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Get feedback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19088" y="267004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Scorecards · AI eval · server scoring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13648" y="2697480"/>
            <a:ext cx="512064" cy="0"/>
          </a:xfrm>
          <a:prstGeom prst="line">
            <a:avLst/>
          </a:prstGeom>
          <a:noFill/>
          <a:ln w="20320">
            <a:solidFill>
              <a:srgbClr val="0F6E6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44000" y="2194560"/>
            <a:ext cx="228600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5875">
            <a:solidFill>
              <a:srgbClr val="0F6E63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235440" y="23134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Measure &amp; plan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253728" y="267004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(5 pillars) → daily plan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3200400"/>
            <a:ext cx="0" cy="365760"/>
          </a:xfrm>
          <a:prstGeom prst="line">
            <a:avLst/>
          </a:prstGeom>
          <a:noFill/>
          <a:ln w="17780">
            <a:solidFill>
              <a:srgbClr val="3C4A5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00300" y="3566160"/>
            <a:ext cx="7388352" cy="0"/>
          </a:xfrm>
          <a:prstGeom prst="line">
            <a:avLst/>
          </a:prstGeom>
          <a:noFill/>
          <a:ln w="17780">
            <a:solidFill>
              <a:srgbClr val="3C4A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00300" y="3566160"/>
            <a:ext cx="0" cy="274320"/>
          </a:xfrm>
          <a:prstGeom prst="line">
            <a:avLst/>
          </a:prstGeom>
          <a:noFill/>
          <a:ln w="17780">
            <a:solidFill>
              <a:srgbClr val="3C4A5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094476" y="3566160"/>
            <a:ext cx="0" cy="274320"/>
          </a:xfrm>
          <a:prstGeom prst="line">
            <a:avLst/>
          </a:prstGeom>
          <a:noFill/>
          <a:ln w="17780">
            <a:solidFill>
              <a:srgbClr val="3C4A5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788652" y="3566160"/>
            <a:ext cx="0" cy="274320"/>
          </a:xfrm>
          <a:prstGeom prst="line">
            <a:avLst/>
          </a:prstGeom>
          <a:noFill/>
          <a:ln w="17780">
            <a:solidFill>
              <a:srgbClr val="3C4A5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40080" y="3840480"/>
            <a:ext cx="3520440" cy="1051560"/>
          </a:xfrm>
          <a:prstGeom prst="roundRect">
            <a:avLst>
              <a:gd name="adj" fmla="val 6087"/>
            </a:avLst>
          </a:prstGeom>
          <a:solidFill>
            <a:srgbClr val="E4EFEC"/>
          </a:solidFill>
          <a:ln w="12700">
            <a:solidFill>
              <a:srgbClr val="0F6E6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3931920"/>
            <a:ext cx="3300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1:1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9808" y="4242816"/>
            <a:ext cx="33009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→ meet → rate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34256" y="3840480"/>
            <a:ext cx="3520440" cy="1051560"/>
          </a:xfrm>
          <a:prstGeom prst="roundRect">
            <a:avLst>
              <a:gd name="adj" fmla="val 6087"/>
            </a:avLst>
          </a:prstGeom>
          <a:solidFill>
            <a:srgbClr val="E4EFEC"/>
          </a:solidFill>
          <a:ln w="12700">
            <a:solidFill>
              <a:srgbClr val="0F6E6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43984" y="3931920"/>
            <a:ext cx="3300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443984" y="4242816"/>
            <a:ext cx="33009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mocks · AI · game · coding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28432" y="3840480"/>
            <a:ext cx="3520440" cy="1051560"/>
          </a:xfrm>
          <a:prstGeom prst="roundRect">
            <a:avLst>
              <a:gd name="adj" fmla="val 6087"/>
            </a:avLst>
          </a:prstGeom>
          <a:solidFill>
            <a:srgbClr val="E4EFEC"/>
          </a:solidFill>
          <a:ln w="12700">
            <a:solidFill>
              <a:srgbClr val="0F6E6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38160" y="3931920"/>
            <a:ext cx="3300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paths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138160" y="4242816"/>
            <a:ext cx="33009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→ AI learning path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" y="5138928"/>
            <a:ext cx="10911535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0080" y="5138928"/>
            <a:ext cx="54864" cy="841248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5138928"/>
            <a:ext cx="103628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runs three ways  </a:t>
            </a:r>
            <a:pPr indent="0" marL="0">
              <a:buNone/>
            </a:pPr>
            <a:r>
              <a:rPr lang="en-US" sz="135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1:1 mentorship, practice (mentor-led &amp; solo), or resource learning paths (detailed next). Every track feeds Step 3, and Step 4’s daily plan sends you back to Step 2 </a:t>
            </a:r>
            <a:pPr indent="0" marL="0">
              <a:buNone/>
            </a:pPr>
            <a:r>
              <a:rPr lang="en-US" sz="1350" b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little stronger.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·  Placement Resources &amp; Interview Skill Manager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46304" cy="14630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· TRACK 1 OF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1:1 Mentorship Loop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6276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468880"/>
            <a:ext cx="54864" cy="141732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59689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04672" y="3072384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availability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354787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Mentor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249424" y="2468880"/>
            <a:ext cx="274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C4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505456" y="2468880"/>
            <a:ext cx="16276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05456" y="2468880"/>
            <a:ext cx="54864" cy="141732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13" name="Text 11"/>
          <p:cNvSpPr/>
          <p:nvPr/>
        </p:nvSpPr>
        <p:spPr>
          <a:xfrm>
            <a:off x="2670048" y="259689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70048" y="3072384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book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670048" y="354787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Mentee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0" y="2468880"/>
            <a:ext cx="274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C4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370832" y="2468880"/>
            <a:ext cx="16276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70832" y="2468880"/>
            <a:ext cx="54864" cy="141732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19" name="Text 17"/>
          <p:cNvSpPr/>
          <p:nvPr/>
        </p:nvSpPr>
        <p:spPr>
          <a:xfrm>
            <a:off x="4535424" y="259689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35424" y="3072384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35424" y="354787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Mentor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80176" y="2468880"/>
            <a:ext cx="274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C4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236208" y="2468880"/>
            <a:ext cx="16276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36208" y="2468880"/>
            <a:ext cx="54864" cy="141732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259689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400800" y="3072384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video call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0" y="354787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Both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845552" y="2468880"/>
            <a:ext cx="274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C4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8101584" y="2468880"/>
            <a:ext cx="16276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01584" y="2468880"/>
            <a:ext cx="54864" cy="141732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1" name="Text 29"/>
          <p:cNvSpPr/>
          <p:nvPr/>
        </p:nvSpPr>
        <p:spPr>
          <a:xfrm>
            <a:off x="8266176" y="259689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266176" y="3072384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66176" y="354787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710928" y="2468880"/>
            <a:ext cx="274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C4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9966960" y="2468880"/>
            <a:ext cx="16276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966960" y="2468880"/>
            <a:ext cx="54864" cy="141732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7" name="Text 35"/>
          <p:cNvSpPr/>
          <p:nvPr/>
        </p:nvSpPr>
        <p:spPr>
          <a:xfrm>
            <a:off x="10131552" y="259689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0131552" y="3072384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each other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0131552" y="354787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Both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0080" y="4343400"/>
            <a:ext cx="1091153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0080" y="4343400"/>
            <a:ext cx="54864" cy="77724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42" name="Text 40"/>
          <p:cNvSpPr/>
          <p:nvPr/>
        </p:nvSpPr>
        <p:spPr>
          <a:xfrm>
            <a:off x="914400" y="434340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booking </a:t>
            </a:r>
            <a:pPr indent="0" marL="0">
              <a:buNone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two mentees can grab the same slot. Plus solo AI practice anytime, with no mentor required.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·  Placement Resources &amp; Interview Skill Manager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46304" cy="14630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· TRACK 2 OF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— Mentor-led &amp; Solo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rehearse: with a mentor watching, or alone against the AI, any time.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1554480" cy="914400"/>
          </a:xfrm>
          <a:prstGeom prst="roundRect">
            <a:avLst>
              <a:gd name="adj" fmla="val 7000"/>
            </a:avLst>
          </a:prstGeom>
          <a:solidFill>
            <a:srgbClr val="E4EFEC"/>
          </a:solidFill>
          <a:ln w="12700">
            <a:solidFill>
              <a:srgbClr val="0F6E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377440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Mentor-led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2688336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many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12848" y="2743200"/>
            <a:ext cx="283464" cy="0"/>
          </a:xfrm>
          <a:prstGeom prst="line">
            <a:avLst/>
          </a:prstGeom>
          <a:noFill/>
          <a:ln w="20320">
            <a:solidFill>
              <a:srgbClr val="0F6E6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14600" y="2286000"/>
            <a:ext cx="18745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0F6E63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240487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24328" y="2761488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opens a mock / GD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07408" y="2743200"/>
            <a:ext cx="347472" cy="0"/>
          </a:xfrm>
          <a:prstGeom prst="line">
            <a:avLst/>
          </a:prstGeom>
          <a:noFill/>
          <a:ln w="20320">
            <a:solidFill>
              <a:srgbClr val="0F6E6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773168" y="2286000"/>
            <a:ext cx="18745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0F6E63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64608" y="240487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82896" y="2761488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mentees enter the room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65976" y="2743200"/>
            <a:ext cx="347472" cy="0"/>
          </a:xfrm>
          <a:prstGeom prst="line">
            <a:avLst/>
          </a:prstGeom>
          <a:noFill/>
          <a:ln w="20320">
            <a:solidFill>
              <a:srgbClr val="0F6E6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031736" y="2286000"/>
            <a:ext cx="18745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0F6E63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23176" y="240487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live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41464" y="2761488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+ coding room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924544" y="2743200"/>
            <a:ext cx="347472" cy="0"/>
          </a:xfrm>
          <a:prstGeom prst="line">
            <a:avLst/>
          </a:prstGeom>
          <a:noFill/>
          <a:ln w="20320">
            <a:solidFill>
              <a:srgbClr val="0F6E6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290304" y="2286000"/>
            <a:ext cx="18745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0F6E63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381744" y="240487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400032" y="2761488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per-mentee rubric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3886200"/>
            <a:ext cx="1554480" cy="914400"/>
          </a:xfrm>
          <a:prstGeom prst="roundRect">
            <a:avLst>
              <a:gd name="adj" fmla="val 7000"/>
            </a:avLst>
          </a:prstGeom>
          <a:solidFill>
            <a:srgbClr val="EBEDEE"/>
          </a:solidFill>
          <a:ln w="12700">
            <a:solidFill>
              <a:srgbClr val="3C4A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3977640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C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9808" y="4288536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mentor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12848" y="4343400"/>
            <a:ext cx="283464" cy="0"/>
          </a:xfrm>
          <a:prstGeom prst="line">
            <a:avLst/>
          </a:prstGeom>
          <a:noFill/>
          <a:ln w="20320">
            <a:solidFill>
              <a:srgbClr val="3C4A52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514600" y="3886200"/>
            <a:ext cx="18745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3C4A52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606040" y="400507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mode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624328" y="4361688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 · game · coding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07408" y="4343400"/>
            <a:ext cx="347472" cy="0"/>
          </a:xfrm>
          <a:prstGeom prst="line">
            <a:avLst/>
          </a:prstGeom>
          <a:noFill/>
          <a:ln w="20320">
            <a:solidFill>
              <a:srgbClr val="3C4A52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773168" y="3886200"/>
            <a:ext cx="18745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3C4A52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64608" y="400507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82896" y="4361688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rounds / Q&amp;A / run code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665976" y="4343400"/>
            <a:ext cx="347472" cy="0"/>
          </a:xfrm>
          <a:prstGeom prst="line">
            <a:avLst/>
          </a:prstGeom>
          <a:noFill/>
          <a:ln w="20320">
            <a:solidFill>
              <a:srgbClr val="3C4A52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031736" y="3886200"/>
            <a:ext cx="18745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3C4A52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123176" y="400507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Auto-score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41464" y="4361688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grades · AI evals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924544" y="4343400"/>
            <a:ext cx="347472" cy="0"/>
          </a:xfrm>
          <a:prstGeom prst="line">
            <a:avLst/>
          </a:prstGeom>
          <a:noFill/>
          <a:ln w="20320">
            <a:solidFill>
              <a:srgbClr val="3C4A52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9290304" y="3886200"/>
            <a:ext cx="18745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3C4A52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9381744" y="400507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400032" y="4361688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+ skill signals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40080" y="5440680"/>
            <a:ext cx="1091153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40080" y="5440680"/>
            <a:ext cx="54864" cy="77724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46" name="Text 44"/>
          <p:cNvSpPr/>
          <p:nvPr/>
        </p:nvSpPr>
        <p:spPr>
          <a:xfrm>
            <a:off x="914400" y="544068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Server-authoritative scoring:  </a:t>
            </a:r>
            <a:pPr indent="0" marL="0">
              <a:buNone/>
            </a:pPr>
            <a:r>
              <a:rPr lang="en-US" sz="135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rounds are graded by the server — the browser never receives the answer key, so a score can’t be forged.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·  Placement Resources &amp; Interview Skill Manager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46304" cy="14630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· TRACK 3 OF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 by a Path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trusted library to an AI-ordered study plan — with progress that actually counts.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18745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F6E63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5420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898648"/>
            <a:ext cx="1655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adds a resource</a:t>
            </a:r>
            <a:endParaRPr lang="en-US" sz="950" dirty="0"/>
          </a:p>
          <a:p>
            <a:pPr algn="ctr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(topic · company · level)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32888" y="3108960"/>
            <a:ext cx="347472" cy="0"/>
          </a:xfrm>
          <a:prstGeom prst="line">
            <a:avLst/>
          </a:prstGeom>
          <a:noFill/>
          <a:ln w="20320">
            <a:solidFill>
              <a:srgbClr val="0F6E6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98648" y="2423160"/>
            <a:ext cx="18745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F6E63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90088" y="25420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08376" y="2898648"/>
            <a:ext cx="1655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trusted, filterable catalog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91456" y="3108960"/>
            <a:ext cx="347472" cy="0"/>
          </a:xfrm>
          <a:prstGeom prst="line">
            <a:avLst/>
          </a:prstGeom>
          <a:noFill/>
          <a:ln w="20320">
            <a:solidFill>
              <a:srgbClr val="0F6E6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57216" y="2423160"/>
            <a:ext cx="18745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3C4A52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48656" y="25420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path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66944" y="2898648"/>
            <a:ext cx="1655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orders it into steps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050024" y="3108960"/>
            <a:ext cx="347472" cy="0"/>
          </a:xfrm>
          <a:prstGeom prst="line">
            <a:avLst/>
          </a:prstGeom>
          <a:noFill/>
          <a:ln w="20320">
            <a:solidFill>
              <a:srgbClr val="0F6E6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15784" y="2423160"/>
            <a:ext cx="18745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F6E63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507224" y="25420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&amp; tick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525512" y="2898648"/>
            <a:ext cx="1655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through, mark done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308592" y="3108960"/>
            <a:ext cx="347472" cy="0"/>
          </a:xfrm>
          <a:prstGeom prst="line">
            <a:avLst/>
          </a:prstGeom>
          <a:noFill/>
          <a:ln w="20320">
            <a:solidFill>
              <a:srgbClr val="0F6E6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74352" y="2423160"/>
            <a:ext cx="18745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F6E63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765792" y="25420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84080" y="2898648"/>
            <a:ext cx="1655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readiness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" y="4297680"/>
            <a:ext cx="5303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4297680"/>
            <a:ext cx="54864" cy="1417320"/>
          </a:xfrm>
          <a:prstGeom prst="rect">
            <a:avLst/>
          </a:prstGeom>
          <a:solidFill>
            <a:srgbClr val="3C4A52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4480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LEARNING PATH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14400" y="4828032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feeds a topic’s resources to the LLM, which returns an ordered, step-by-step plan. Steps are embedded in one document, so the whole path loads and saves in a single read/write.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17920" y="4297680"/>
            <a:ext cx="5303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4297680"/>
            <a:ext cx="54864" cy="141732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4480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 STAYS TRUSTED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92240" y="4828032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mentors and admins can publish resources. An ownership check gates edit and delete — so only the uploader (or an admin) can change a resource, and the library stays curated.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·  Placement Resources &amp; Interview Skill Manager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46304" cy="14630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· LIFECYCLES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Lifecycle Flowcharts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most important objects are small state machines — every transition is enforced on the server.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2148840"/>
            <a:ext cx="0" cy="3611880"/>
          </a:xfrm>
          <a:prstGeom prst="line">
            <a:avLst/>
          </a:prstGeom>
          <a:noFill/>
          <a:ln w="12700">
            <a:solidFill>
              <a:srgbClr val="D8D5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03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MENTORSHIP SESSION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234440" y="2377440"/>
            <a:ext cx="18288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0F6E63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07592" y="237744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234440" y="3090672"/>
            <a:ext cx="18288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0F6E63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07592" y="3090672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234440" y="3803904"/>
            <a:ext cx="18288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0F6E63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07592" y="38039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in-progress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234440" y="4517136"/>
            <a:ext cx="18288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0F6E63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07592" y="4517136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234440" y="5230368"/>
            <a:ext cx="1828800" cy="457200"/>
          </a:xfrm>
          <a:prstGeom prst="roundRect">
            <a:avLst>
              <a:gd name="adj" fmla="val 18000"/>
            </a:avLst>
          </a:prstGeom>
          <a:solidFill>
            <a:srgbClr val="0F6E63"/>
          </a:solidFill>
          <a:ln w="15875">
            <a:solidFill>
              <a:srgbClr val="0F6E63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307592" y="523036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148840" y="2834640"/>
            <a:ext cx="0" cy="256032"/>
          </a:xfrm>
          <a:prstGeom prst="line">
            <a:avLst/>
          </a:prstGeom>
          <a:noFill/>
          <a:ln w="20320">
            <a:solidFill>
              <a:srgbClr val="0F6E63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221992" y="28163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148840" y="3547872"/>
            <a:ext cx="0" cy="256032"/>
          </a:xfrm>
          <a:prstGeom prst="line">
            <a:avLst/>
          </a:prstGeom>
          <a:noFill/>
          <a:ln w="20320">
            <a:solidFill>
              <a:srgbClr val="0F6E63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2221992" y="35295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148840" y="4261104"/>
            <a:ext cx="0" cy="256032"/>
          </a:xfrm>
          <a:prstGeom prst="line">
            <a:avLst/>
          </a:prstGeom>
          <a:noFill/>
          <a:ln w="20320">
            <a:solidFill>
              <a:srgbClr val="0F6E63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2221992" y="42428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148840" y="4974336"/>
            <a:ext cx="0" cy="256032"/>
          </a:xfrm>
          <a:prstGeom prst="line">
            <a:avLst/>
          </a:prstGeom>
          <a:noFill/>
          <a:ln w="20320">
            <a:solidFill>
              <a:srgbClr val="0F6E63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2221992" y="49560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0" y="2377440"/>
            <a:ext cx="1737360" cy="457200"/>
          </a:xfrm>
          <a:prstGeom prst="roundRect">
            <a:avLst>
              <a:gd name="adj" fmla="val 18000"/>
            </a:avLst>
          </a:prstGeom>
          <a:solidFill>
            <a:srgbClr val="3C4A52"/>
          </a:solidFill>
          <a:ln w="15875">
            <a:solidFill>
              <a:srgbClr val="3C4A52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730752" y="237744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081528" y="2606040"/>
            <a:ext cx="557784" cy="0"/>
          </a:xfrm>
          <a:prstGeom prst="line">
            <a:avLst/>
          </a:prstGeom>
          <a:noFill/>
          <a:ln w="20320">
            <a:solidFill>
              <a:srgbClr val="3C4A52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2916936" y="2313432"/>
            <a:ext cx="886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657600" y="3090672"/>
            <a:ext cx="1737360" cy="457200"/>
          </a:xfrm>
          <a:prstGeom prst="roundRect">
            <a:avLst>
              <a:gd name="adj" fmla="val 18000"/>
            </a:avLst>
          </a:prstGeom>
          <a:solidFill>
            <a:srgbClr val="3C4A52"/>
          </a:solidFill>
          <a:ln w="15875">
            <a:solidFill>
              <a:srgbClr val="3C4A52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730752" y="3090672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081528" y="3319272"/>
            <a:ext cx="557784" cy="0"/>
          </a:xfrm>
          <a:prstGeom prst="line">
            <a:avLst/>
          </a:prstGeom>
          <a:noFill/>
          <a:ln w="20320">
            <a:solidFill>
              <a:srgbClr val="3C4A52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2916936" y="3026664"/>
            <a:ext cx="886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309360" y="2103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INTERVIEW GAME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949440" y="2377440"/>
            <a:ext cx="18288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0F6E63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022592" y="237744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in-progress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949440" y="3090672"/>
            <a:ext cx="18288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0F6E63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022592" y="3090672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a round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949440" y="3803904"/>
            <a:ext cx="18288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0F6E63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022592" y="38039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scores it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949440" y="4517136"/>
            <a:ext cx="1828800" cy="457200"/>
          </a:xfrm>
          <a:prstGeom prst="roundRect">
            <a:avLst>
              <a:gd name="adj" fmla="val 18000"/>
            </a:avLst>
          </a:prstGeom>
          <a:solidFill>
            <a:srgbClr val="0F6E63"/>
          </a:solidFill>
          <a:ln w="15875">
            <a:solidFill>
              <a:srgbClr val="0F6E63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022592" y="4517136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863840" y="2834640"/>
            <a:ext cx="0" cy="256032"/>
          </a:xfrm>
          <a:prstGeom prst="line">
            <a:avLst/>
          </a:prstGeom>
          <a:noFill/>
          <a:ln w="20320">
            <a:solidFill>
              <a:srgbClr val="0F6E63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7936992" y="28163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863840" y="3547872"/>
            <a:ext cx="0" cy="256032"/>
          </a:xfrm>
          <a:prstGeom prst="line">
            <a:avLst/>
          </a:prstGeom>
          <a:noFill/>
          <a:ln w="20320">
            <a:solidFill>
              <a:srgbClr val="0F6E63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7936992" y="35295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 → submit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863840" y="4261104"/>
            <a:ext cx="0" cy="256032"/>
          </a:xfrm>
          <a:prstGeom prst="line">
            <a:avLst/>
          </a:prstGeom>
          <a:noFill/>
          <a:ln w="20320">
            <a:solidFill>
              <a:srgbClr val="0F6E63"/>
            </a:solidFill>
            <a:prstDash val="solid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7936992" y="42428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(x6)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418320" y="3803904"/>
            <a:ext cx="1737360" cy="457200"/>
          </a:xfrm>
          <a:prstGeom prst="roundRect">
            <a:avLst>
              <a:gd name="adj" fmla="val 18000"/>
            </a:avLst>
          </a:prstGeom>
          <a:solidFill>
            <a:srgbClr val="3C4A52"/>
          </a:solidFill>
          <a:ln w="15875">
            <a:solidFill>
              <a:srgbClr val="3C4A52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9491472" y="3803904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796528" y="4032504"/>
            <a:ext cx="603504" cy="0"/>
          </a:xfrm>
          <a:prstGeom prst="line">
            <a:avLst/>
          </a:prstGeom>
          <a:noFill/>
          <a:ln w="20320">
            <a:solidFill>
              <a:srgbClr val="3C4A52"/>
            </a:solidFill>
            <a:prstDash val="solid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8631936" y="3739896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40080" y="59436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mentor can approve a session  ·  only the server assigns a game score — the browser never gets the answer key.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·  Placement Resources &amp; Interview Skill Manager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46304" cy="14630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PROPOSED WORKFLOW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Model — Role AND Ownership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5422392"/>
                <a:gridCol w="1828800"/>
                <a:gridCol w="1828800"/>
                <a:gridCol w="182880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6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6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6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6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E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 resources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6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6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6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/ delete a resource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C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6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a session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6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a session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6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panel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6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212080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5212080"/>
            <a:ext cx="54864" cy="73152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521208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“Own only” </a:t>
            </a:r>
            <a:pPr algn="l" indent="0" marL="0">
              <a:buNone/>
            </a:pPr>
            <a:r>
              <a:rPr lang="en-US" sz="14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an ownership check on the specific record, not just a role check — the key security idea (closes IDOR bugs).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·  Placement Resources &amp; Interview Skill Manager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46304" cy="14630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SPECIFICATION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Requirements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3492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74520"/>
            <a:ext cx="54864" cy="379476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7" name="Shape 5"/>
          <p:cNvSpPr/>
          <p:nvPr/>
        </p:nvSpPr>
        <p:spPr>
          <a:xfrm>
            <a:off x="6355080" y="1874520"/>
            <a:ext cx="53492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355080" y="1874520"/>
            <a:ext cx="54864" cy="3794760"/>
          </a:xfrm>
          <a:prstGeom prst="rect">
            <a:avLst/>
          </a:prstGeom>
          <a:solidFill>
            <a:srgbClr val="3C4A52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2084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32688" y="251460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profiles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Mentorship: availability, booking, sessions, ratings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practice: AI, Game, coding, GD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builder &amp; ATS analysis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library &amp; learning paths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Progress, analytics, notifications, admin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47688" y="20848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NON-FUNCTIONAL  ·  PRODUCTION-GRADE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47688" y="251460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role/ownership on every endpoint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score forgery · sandboxed code · authed realtime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Fail-fast config · structured errors · request tracing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queries · pagination · atomic writes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· secrets never leaked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Self-hostable &amp; student-maintainable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·  Placement Resources &amp; Interview Skill Manager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46304" cy="14630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SPECIFICATION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2468880" cy="566928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745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82112" y="1874520"/>
            <a:ext cx="8369503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874520"/>
            <a:ext cx="79580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Vite 7 · React Router 7 · Socket.IO-client · PeerJS · Monaco · Recharts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496312"/>
            <a:ext cx="2468880" cy="566928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49631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82112" y="2496312"/>
            <a:ext cx="8369503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496312"/>
            <a:ext cx="79580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 4 · Socket.IO 4 · Mongoose 8 · JWT · bcrypt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118104"/>
            <a:ext cx="2468880" cy="566928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11810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182112" y="3118104"/>
            <a:ext cx="8369503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3118104"/>
            <a:ext cx="79580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(document database)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739896"/>
            <a:ext cx="2468880" cy="566928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73989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182112" y="3739896"/>
            <a:ext cx="8369503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3739896"/>
            <a:ext cx="79580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(Llama 3.1) · Google Gemini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361688"/>
            <a:ext cx="2468880" cy="566928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36168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execution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182112" y="4361688"/>
            <a:ext cx="8369503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4361688"/>
            <a:ext cx="79580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Judge0 (sandboxed)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4983480"/>
            <a:ext cx="2468880" cy="566928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49834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video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182112" y="4983480"/>
            <a:ext cx="8369503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4983480"/>
            <a:ext cx="79580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 via PeerJS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5605272"/>
            <a:ext cx="2468880" cy="566928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" y="560527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182112" y="5605272"/>
            <a:ext cx="8369503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5605272"/>
            <a:ext cx="79580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(MongoDB) · nginx · PM2 · Redis (planned)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·  Placement Resources &amp; Interview Skill Manager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46304" cy="14630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Design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4864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74520"/>
            <a:ext cx="54864" cy="379476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084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2688" y="251460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(document DB) via Mongoose schemas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data owned by its parent (rounds, slots, résumé sections)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shared entities (User, Topic, Company, Resource)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only fields real queries touch → O(log n), not O(n)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index auto-purges old notifications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single-document writes guard integrity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37960" y="1874520"/>
            <a:ext cx="51663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874520"/>
            <a:ext cx="54864" cy="3794760"/>
          </a:xfrm>
          <a:prstGeom prst="rect">
            <a:avLst/>
          </a:prstGeom>
          <a:solidFill>
            <a:srgbClr val="3C4A52"/>
          </a:solidFill>
          <a:ln/>
        </p:spPr>
      </p:sp>
      <p:sp>
        <p:nvSpPr>
          <p:cNvPr id="11" name="Text 9"/>
          <p:cNvSpPr/>
          <p:nvPr/>
        </p:nvSpPr>
        <p:spPr>
          <a:xfrm>
            <a:off x="6830568" y="208483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COLLECTIONS  ·  CENTERED ON USER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81060" y="3566160"/>
            <a:ext cx="1280160" cy="640080"/>
          </a:xfrm>
          <a:prstGeom prst="ellipse">
            <a:avLst/>
          </a:prstGeom>
          <a:solidFill>
            <a:srgbClr val="0F6E63"/>
          </a:solidFill>
          <a:ln/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81060" y="3566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30568" y="2743200"/>
            <a:ext cx="1417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30568" y="2743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Mentorship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994392" y="2743200"/>
            <a:ext cx="1417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94392" y="2743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InterviewGame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30568" y="3703320"/>
            <a:ext cx="1417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30568" y="37033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994392" y="3703320"/>
            <a:ext cx="1417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94392" y="37033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30568" y="4663440"/>
            <a:ext cx="1417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30568" y="46634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ResumeDraft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994392" y="4663440"/>
            <a:ext cx="1417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94392" y="46634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·  Placement Resources &amp; Interview Skill Manager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46304" cy="14630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Model — How Collections Relate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i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is the hub — almost every collection references it (the lines). A few objects instead embed their children in one document: InterviewGame (rounds), ResumeDraft (sections), LearningPath (steps) — shown with a heavier outline.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880360" y="2660904"/>
            <a:ext cx="2103120" cy="1385316"/>
          </a:xfrm>
          <a:prstGeom prst="line">
            <a:avLst/>
          </a:prstGeom>
          <a:noFill/>
          <a:ln w="12700">
            <a:solidFill>
              <a:srgbClr val="C2BF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0360" y="3410712"/>
            <a:ext cx="2103120" cy="635508"/>
          </a:xfrm>
          <a:prstGeom prst="line">
            <a:avLst/>
          </a:prstGeom>
          <a:noFill/>
          <a:ln w="12700">
            <a:solidFill>
              <a:srgbClr val="C2BF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880360" y="4046220"/>
            <a:ext cx="2103120" cy="114300"/>
          </a:xfrm>
          <a:prstGeom prst="line">
            <a:avLst/>
          </a:prstGeom>
          <a:noFill/>
          <a:ln w="12700">
            <a:solidFill>
              <a:srgbClr val="C2BF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880360" y="4046220"/>
            <a:ext cx="2103120" cy="864108"/>
          </a:xfrm>
          <a:prstGeom prst="line">
            <a:avLst/>
          </a:prstGeom>
          <a:noFill/>
          <a:ln w="12700">
            <a:solidFill>
              <a:srgbClr val="C2BF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7223760" y="2660904"/>
            <a:ext cx="2270455" cy="1385316"/>
          </a:xfrm>
          <a:prstGeom prst="line">
            <a:avLst/>
          </a:prstGeom>
          <a:noFill/>
          <a:ln w="12700">
            <a:solidFill>
              <a:srgbClr val="C2BF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7223760" y="3410712"/>
            <a:ext cx="2270455" cy="635508"/>
          </a:xfrm>
          <a:prstGeom prst="line">
            <a:avLst/>
          </a:prstGeom>
          <a:noFill/>
          <a:ln w="12700">
            <a:solidFill>
              <a:srgbClr val="C2BF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23760" y="4046220"/>
            <a:ext cx="2270455" cy="114300"/>
          </a:xfrm>
          <a:prstGeom prst="line">
            <a:avLst/>
          </a:prstGeom>
          <a:noFill/>
          <a:ln w="12700">
            <a:solidFill>
              <a:srgbClr val="C2BF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23760" y="4046220"/>
            <a:ext cx="2270455" cy="864108"/>
          </a:xfrm>
          <a:prstGeom prst="line">
            <a:avLst/>
          </a:prstGeom>
          <a:noFill/>
          <a:ln w="12700">
            <a:solidFill>
              <a:srgbClr val="C2BF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83480" y="3611880"/>
            <a:ext cx="2240280" cy="868680"/>
          </a:xfrm>
          <a:prstGeom prst="ellipse">
            <a:avLst/>
          </a:prstGeom>
          <a:solidFill>
            <a:srgbClr val="0F6E63"/>
          </a:solidFill>
          <a:ln/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83480" y="36118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22960" y="2377440"/>
            <a:ext cx="20574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5875">
            <a:solidFill>
              <a:srgbClr val="0F6E63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" y="2377440"/>
            <a:ext cx="1911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3127248"/>
            <a:ext cx="20574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5875">
            <a:solidFill>
              <a:srgbClr val="0F6E63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6112" y="3127248"/>
            <a:ext cx="1911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MentorshipSession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3877056"/>
            <a:ext cx="20574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5875">
            <a:solidFill>
              <a:srgbClr val="0F6E63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96112" y="3877056"/>
            <a:ext cx="1911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MockInterview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4626864"/>
            <a:ext cx="20574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5875">
            <a:solidFill>
              <a:srgbClr val="0F6E63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96112" y="4626864"/>
            <a:ext cx="1911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MockFeedback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494215" y="2377440"/>
            <a:ext cx="20574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25400">
            <a:solidFill>
              <a:srgbClr val="3C4A52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567367" y="2377440"/>
            <a:ext cx="1911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InterviewGame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494215" y="3127248"/>
            <a:ext cx="20574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25400">
            <a:solidFill>
              <a:srgbClr val="3C4A52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567367" y="3127248"/>
            <a:ext cx="1911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ResumeDraft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494215" y="3877056"/>
            <a:ext cx="20574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5875">
            <a:solidFill>
              <a:srgbClr val="0F6E63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567367" y="3877056"/>
            <a:ext cx="1911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494215" y="4626864"/>
            <a:ext cx="20574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5875">
            <a:solidFill>
              <a:srgbClr val="0F6E63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567367" y="4626864"/>
            <a:ext cx="1911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0080" y="5715000"/>
            <a:ext cx="1417320" cy="420624"/>
          </a:xfrm>
          <a:prstGeom prst="roundRect">
            <a:avLst>
              <a:gd name="adj" fmla="val 15217"/>
            </a:avLst>
          </a:prstGeom>
          <a:solidFill>
            <a:srgbClr val="E4EFEC"/>
          </a:solidFill>
          <a:ln w="12700">
            <a:solidFill>
              <a:srgbClr val="0F6E6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5806440"/>
            <a:ext cx="1197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194560" y="5715000"/>
            <a:ext cx="1417320" cy="420624"/>
          </a:xfrm>
          <a:prstGeom prst="roundRect">
            <a:avLst>
              <a:gd name="adj" fmla="val 15217"/>
            </a:avLst>
          </a:prstGeom>
          <a:solidFill>
            <a:srgbClr val="E4EFEC"/>
          </a:solidFill>
          <a:ln w="12700">
            <a:solidFill>
              <a:srgbClr val="0F6E6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04288" y="5806440"/>
            <a:ext cx="1197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794760" y="5715000"/>
            <a:ext cx="7756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two shared tags, Topic and Company: resources, sessions and the Interview Game can be focused by both; learning paths and progress are organised by Topic.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·  Placement Resources &amp; Interview Skill Manager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46304" cy="14630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 · REFERENCE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 Reference — All 18 Collections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collection follows, one per slide, with its complete fields and what it is used for.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User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7614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MENTORSHIP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03580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MentorshipSession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28269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Availability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62102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1:MANY TEACHING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89534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MockInterview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1422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MockFeedback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38912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GDRoom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7274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SOLO PRACTICE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500176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InterviewGame  (+ round)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524865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QuestionBank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549554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CodingQuestion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57424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CodeSubmission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2148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RÉSUMÉ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242316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ResumeDraft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267004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ResumeAnalysis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300837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 &amp; LEARNING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328269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Topic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352958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Company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9360" y="377647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Resource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402336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LearningPath  (+ step)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43616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PROGRESS &amp; ALERTS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463600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 Progress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488289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 Notification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·  Placement Resources &amp; Interview Skill Manager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46304" cy="14630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 · SCHEMA 1 / 18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account — mentor, mentee, or admin. The hub every other record points back to.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6583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94560"/>
            <a:ext cx="54864" cy="370332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59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2724912"/>
            <a:ext cx="2898648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String, required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String, required, unique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String, required (bcrypt hash)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enum mentor|mentee|admin, req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[String]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expertise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[String]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aimingCompany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currentCompany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experienceLevel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experience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Number =0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college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graduationYear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Number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050792" y="2724912"/>
            <a:ext cx="2898648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linkedin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isOnline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Boolean =false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profilePicture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resumeUrl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rating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Number =0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totalReviews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Number =0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failedLoginAttempts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Number =0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lockUntil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passwordChangedAt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resetPasswordToken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(hashed)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resetPasswordExpire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 =now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98080" y="2194560"/>
            <a:ext cx="4053535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0" y="2194560"/>
            <a:ext cx="54864" cy="3703320"/>
          </a:xfrm>
          <a:prstGeom prst="rect">
            <a:avLst/>
          </a:prstGeom>
          <a:solidFill>
            <a:srgbClr val="3C4A5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0" y="235915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 FOR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0" y="2706624"/>
            <a:ext cx="3504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identity, profile, mentor ratings, and the auth-security state: brute-force lockout, password-reset token (stored hashed), and a passwordChangedAt stamp used to invalidate old JWTs.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0" y="4032504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RELATIONSHIPS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0" y="4325112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65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Referenced by nearly every collection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65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(mentor / mentee / user / uploadedBy ...)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772400" y="510235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0" y="5376672"/>
            <a:ext cx="3504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(unique) · role · resetPasswordToken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·  Placement Resources &amp; Interview Skill Manager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46304" cy="14630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 · SCHEMA 2 / 18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MentorshipSession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booked 1:1 session between a mentee and a mentor — its whole lifecycle from request to rating.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6583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94560"/>
            <a:ext cx="54864" cy="370332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59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2724912"/>
            <a:ext cx="6016752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mentor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ObjectId → User, req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mentee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ObjectId → User, req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aimingCompany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ObjectId → Company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scheduledDate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Date, req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Number (minutes)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meetingLink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enum pending|approved|in-progress|</a:t>
            </a:r>
            <a:endParaRPr lang="en-US" sz="1100" dirty="0"/>
          </a:p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rejected|completed|cancelled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mentorFeedback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menteeFeedback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ratingGiven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Number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 =now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0" y="2194560"/>
            <a:ext cx="4053535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0" y="2194560"/>
            <a:ext cx="54864" cy="3703320"/>
          </a:xfrm>
          <a:prstGeom prst="rect">
            <a:avLst/>
          </a:prstGeom>
          <a:solidFill>
            <a:srgbClr val="3C4A5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235915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 FOR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0" y="2706624"/>
            <a:ext cx="3504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the booking → approve → meet → rate loop. A mentee rating updates the mentor's average; ratingGiven guards against rating twice.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0" y="4032504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RELATIONSHIPS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0" y="4325112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65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mentor, mentee → User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65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aimingCompany → Company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772400" y="510235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5376672"/>
            <a:ext cx="3504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{mentor, status} · {mentee, status}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{scheduledDate: -1}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·  Placement Resources &amp; Interview Skill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46304" cy="14630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 · SCHEMA 3 / 18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Availability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mentor's bookable calendar: recurring weekly slots plus concrete dated slots a mentee can claim.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6583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94560"/>
            <a:ext cx="54864" cy="370332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59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2724912"/>
            <a:ext cx="6016752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mentor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ObjectId → User, req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weeklySlots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[{ day enum(Mon–Sun),</a:t>
            </a:r>
            <a:endParaRPr lang="en-US" sz="1100" dirty="0"/>
          </a:p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startTime, endTime,</a:t>
            </a:r>
            <a:endParaRPr lang="en-US" sz="1100" dirty="0"/>
          </a:p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isAvailable =true }]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availableSlots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[{ date, startTime, endTime,</a:t>
            </a:r>
            <a:endParaRPr lang="en-US" sz="1100" dirty="0"/>
          </a:p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isBooked =false,</a:t>
            </a:r>
            <a:endParaRPr lang="en-US" sz="1100" dirty="0"/>
          </a:p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bookedBy → User }]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timezone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='Asia/Kolkata'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0" y="2194560"/>
            <a:ext cx="4053535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0" y="2194560"/>
            <a:ext cx="54864" cy="3703320"/>
          </a:xfrm>
          <a:prstGeom prst="rect">
            <a:avLst/>
          </a:prstGeom>
          <a:solidFill>
            <a:srgbClr val="3C4A5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235915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 FOR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0" y="2706624"/>
            <a:ext cx="3504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flips availableSlots[i].isBooked via a single atomic conditional update, so two mentees can never claim the same slot under a race.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0" y="4032504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RELATIONSHIPS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0" y="4325112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65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mentor → User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65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availableSlots.bookedBy → User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772400" y="510235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5376672"/>
            <a:ext cx="3504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(none — always loaded by mentor)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·  Placement Resources &amp; Interview Skill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46304" cy="14630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 · SCHEMA 4 / 18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MockInterview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mentor-hosted group practice session (technical / HR / GD) with many participants.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6583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94560"/>
            <a:ext cx="54864" cy="370332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59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2724912"/>
            <a:ext cx="6016752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enum technical|hr|gd, req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mentor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ObjectId → User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participants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[ObjectId → User]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companyFocus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ObjectId → Company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ObjectId → Topic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scheduledDate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Number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meetingLink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enum scheduled|ongoing|</a:t>
            </a:r>
            <a:endParaRPr lang="en-US" sz="1100" dirty="0"/>
          </a:p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completed|cancelled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 =now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0" y="2194560"/>
            <a:ext cx="4053535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0" y="2194560"/>
            <a:ext cx="54864" cy="3703320"/>
          </a:xfrm>
          <a:prstGeom prst="rect">
            <a:avLst/>
          </a:prstGeom>
          <a:solidFill>
            <a:srgbClr val="3C4A5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235915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 FOR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0" y="2706624"/>
            <a:ext cx="3504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1:many teaching format — one mentor running a practice round for several mentees, who each receive a MockFeedback scorecard.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0" y="4032504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RELATIONSHIPS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0" y="4325112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65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mentor, participants → User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65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companyFocus → Company · topic → Topic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772400" y="510235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5376672"/>
            <a:ext cx="3504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{status, scheduledDate: -1} · {mentor}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·  Placement Resources &amp; Interview Skill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46304" cy="14630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 · SCHEMA 5 / 18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MockFeedback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mentor's structured scorecard for one mentee in a mock interview.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6583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94560"/>
            <a:ext cx="54864" cy="370332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59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2724912"/>
            <a:ext cx="6016752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mockInterview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ObjectId → MockInterview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ObjectId → User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communicationScore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Number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technicalScore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Number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confidenceScore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Number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problemSolvingScore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Number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overallScore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Number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strengths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weaknesses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suggestions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 =now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0" y="2194560"/>
            <a:ext cx="4053535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0" y="2194560"/>
            <a:ext cx="54864" cy="3703320"/>
          </a:xfrm>
          <a:prstGeom prst="rect">
            <a:avLst/>
          </a:prstGeom>
          <a:solidFill>
            <a:srgbClr val="3C4A5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235915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 FOR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0" y="2706624"/>
            <a:ext cx="3504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practice session into measurable, repeatable feedback (the rubric scores) plus qualitative notes that feed a mentee's progress record.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0" y="4032504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RELATIONSHIPS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0" y="4325112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65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mockInterview → MockInterview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65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→ User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772400" y="510235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5376672"/>
            <a:ext cx="3504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(none)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·  Placement Resources &amp; Interview Skill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46304" cy="14630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 · SCHEMA 6 / 18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GDRoom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group-discussion room (up to 6) for multi-user GD practice.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6583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94560"/>
            <a:ext cx="54864" cy="370332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59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2724912"/>
            <a:ext cx="6016752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participants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[ObjectId → User]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maxParticipants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Number =6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enum waiting|active|completed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gdTopic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 =now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0" y="2194560"/>
            <a:ext cx="4053535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0" y="2194560"/>
            <a:ext cx="54864" cy="3703320"/>
          </a:xfrm>
          <a:prstGeom prst="rect">
            <a:avLst/>
          </a:prstGeom>
          <a:solidFill>
            <a:srgbClr val="3C4A5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235915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 FOR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0" y="2706624"/>
            <a:ext cx="3504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 the real-time Group Discussion feature; participants join over WebRTC and the room tracks who is present and the discussion prompt.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0" y="4032504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RELATIONSHIPS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0" y="4325112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65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participants → User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772400" y="510235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5376672"/>
            <a:ext cx="3504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(none)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·  Placement Resources &amp; Interview Skill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46304" cy="14630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 · SCHEMA 7 / 18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InterviewGame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solo 6-round placement simulation, scored on the server. Each round is embedded.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4864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94560"/>
            <a:ext cx="54864" cy="370332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59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2724912"/>
            <a:ext cx="4919472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ObjectId → User, req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rounds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[roundSchema]  →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currentRound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Number =0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totalScore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Number =0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maxTotalScore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Number =600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enum in-progress|</a:t>
            </a:r>
            <a:endParaRPr lang="en-US" sz="1100" dirty="0"/>
          </a:p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completed|abandoned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difficulty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enum easy|medium|hard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companyFocus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ObjectId → Company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startedAt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 =now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completedAt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150815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2194560"/>
            <a:ext cx="54864" cy="3703320"/>
          </a:xfrm>
          <a:prstGeom prst="rect">
            <a:avLst/>
          </a:prstGeom>
          <a:solidFill>
            <a:srgbClr val="3C4A52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2359152"/>
            <a:ext cx="4602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EMBEDDED · roundSchema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93408" y="2724912"/>
            <a:ext cx="4583887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enum aptitude|technical1|</a:t>
            </a:r>
            <a:endParaRPr lang="en-US" sz="950" dirty="0"/>
          </a:p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coding|gd|technical2|hr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Number =0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maxScore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Number =100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answers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[{ questionId, selectedAnswer,</a:t>
            </a:r>
            <a:endParaRPr lang="en-US" sz="950" dirty="0"/>
          </a:p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isCorrect, timeTaken }]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servedQuestions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[{ questionId, ans }]</a:t>
            </a:r>
            <a:endParaRPr lang="en-US" sz="950" dirty="0"/>
          </a:p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answer key — never sent to client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enum pending|in-progress|</a:t>
            </a:r>
            <a:endParaRPr lang="en-US" sz="950" dirty="0"/>
          </a:p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completed|skipped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feedback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completedAt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·  Placement Resources &amp; Interview Skill Manager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46304" cy="14630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 · SCHEMA 8 / 18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QuestionBank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curated question pool — one model holding MCQ, HR, and coding questions; mentor-verified.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6583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94560"/>
            <a:ext cx="54864" cy="370332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59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2724912"/>
            <a:ext cx="6016752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enum aptitude|technical|hr|coding, req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(e.g. 'dsa', 'dbms')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difficulty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enum easy|medium|hard =medium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(MCQ / HR prompt)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opts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[String]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explanation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(coding)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(coding)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[{ input, output, explanation }]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testCases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[{ input, expectedOutput }]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boilerplate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javascript, python, cpp, java, c 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Boolean =true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 =now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98080" y="2194560"/>
            <a:ext cx="4053535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0" y="2194560"/>
            <a:ext cx="54864" cy="3703320"/>
          </a:xfrm>
          <a:prstGeom prst="rect">
            <a:avLst/>
          </a:prstGeom>
          <a:solidFill>
            <a:srgbClr val="3C4A5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235915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 FOR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0" y="2706624"/>
            <a:ext cx="3504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flexible model serves all question shapes: MCQs reuse q / opts / ans; HR reuses q; coding uses title / testCases / boilerplate. The verified flag marks mentor-approved items.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0" y="4032504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RELATIONSHIPS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0" y="4325112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65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(self-contained — no refs)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772400" y="510235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5376672"/>
            <a:ext cx="3504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{type, difficulty}  — for sampling rounds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·  Placement Resources &amp; Interview Skill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46304" cy="14630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 · SCHEMA 9 / 18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CodingQuestion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standalone coding problem, tagged by topic and target company.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6583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94560"/>
            <a:ext cx="54864" cy="370332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59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2724912"/>
            <a:ext cx="6016752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String, req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String, req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difficulty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enum easy|medium|hard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ObjectId → Topic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companyTags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[ObjectId → Company]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sampleInput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sampleOutput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 =now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0" y="2194560"/>
            <a:ext cx="4053535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0" y="2194560"/>
            <a:ext cx="54864" cy="3703320"/>
          </a:xfrm>
          <a:prstGeom prst="rect">
            <a:avLst/>
          </a:prstGeom>
          <a:solidFill>
            <a:srgbClr val="3C4A5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235915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 FOR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0" y="2706624"/>
            <a:ext cx="3504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the coding practice library and mock interviews. (Its coding shape overlaps QuestionBank — consolidating the two is a planned cleanup.)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0" y="4032504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RELATIONSHIPS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0" y="4325112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65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 → Topic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65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companyTags → Company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772400" y="510235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5376672"/>
            <a:ext cx="3504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(none)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·  Placement Resources &amp; Interview Skill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46304" cy="14630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 · SCHEMA 10 / 18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CodeSubmission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recorded code run inside a mock interview — the code, its output, and a score.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6583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94560"/>
            <a:ext cx="54864" cy="370332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59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2724912"/>
            <a:ext cx="6016752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mockInterview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ObjectId → MockInterview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ObjectId → CodingQuestion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ObjectId → User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Number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submittedAt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 =now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0" y="2194560"/>
            <a:ext cx="4053535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0" y="2194560"/>
            <a:ext cx="54864" cy="3703320"/>
          </a:xfrm>
          <a:prstGeom prst="rect">
            <a:avLst/>
          </a:prstGeom>
          <a:solidFill>
            <a:srgbClr val="3C4A5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235915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 FOR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0" y="2706624"/>
            <a:ext cx="3504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what a candidate ran during a coding round (executed in the Judge0 sandbox) so it can be reviewed and scored afterwards.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0" y="4032504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RELATIONSHIPS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0" y="4325112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65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mockInterview → MockInterview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65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 → CodingQuestion · user → User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772400" y="510235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5376672"/>
            <a:ext cx="3504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(none)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·  Placement Resources &amp; Interview Skill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46304" cy="14630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 · SCHEMA 11 / 18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ResumeDraft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structured résumé a student builds — every section embedded in one document.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6583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94560"/>
            <a:ext cx="54864" cy="370332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59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2724912"/>
            <a:ext cx="6016752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ObjectId → User, req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='Untitled Resume'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enum modern|classic|creative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personalInfo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fullName, email, phone, location,</a:t>
            </a:r>
            <a:endParaRPr lang="en-US" sz="950" dirty="0"/>
          </a:p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linkedin, github, portfolio, summary 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education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[{ institution, degree, field,</a:t>
            </a:r>
            <a:endParaRPr lang="en-US" sz="950" dirty="0"/>
          </a:p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startDate, endDate, gpa }]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experience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[{ company, position, startDate,</a:t>
            </a:r>
            <a:endParaRPr lang="en-US" sz="950" dirty="0"/>
          </a:p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endDate, current, description }]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[String]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projects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[{ name, description,</a:t>
            </a:r>
            <a:endParaRPr lang="en-US" sz="950" dirty="0"/>
          </a:p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technologies, link }]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certifications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[{ name, issuer, date }]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coverLetter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template, content,</a:t>
            </a:r>
            <a:endParaRPr lang="en-US" sz="950" dirty="0"/>
          </a:p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jobTitle, companyName 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jobDescription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lastGenerated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 =now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updatedAt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 (pre-save hook)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98080" y="2194560"/>
            <a:ext cx="4053535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0" y="2194560"/>
            <a:ext cx="54864" cy="3703320"/>
          </a:xfrm>
          <a:prstGeom prst="rect">
            <a:avLst/>
          </a:prstGeom>
          <a:solidFill>
            <a:srgbClr val="3C4A5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235915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 FOR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0" y="2706624"/>
            <a:ext cx="3504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résumé lives in one document (embedded sections) so it loads and saves in a single read/write. AI fills in content; export to DOCX/PDF on the client.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0" y="4032504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RELATIONSHIPS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0" y="4325112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65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→ User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772400" y="510235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5376672"/>
            <a:ext cx="3504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(none)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·  Placement Resources &amp; Interview Skill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46304" cy="14630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 · SCHEMA 12 / 18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ResumeAnalysis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ATS report scoring a résumé against a specific job description.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6583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94560"/>
            <a:ext cx="54864" cy="370332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59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2724912"/>
            <a:ext cx="6016752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ObjectId → User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resumeUrl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jobDescription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matchScore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Number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missingKeywords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[String]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suggestions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redFlags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[String]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starSuggestions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[String]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 =now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0" y="2194560"/>
            <a:ext cx="4053535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0" y="2194560"/>
            <a:ext cx="54864" cy="3703320"/>
          </a:xfrm>
          <a:prstGeom prst="rect">
            <a:avLst/>
          </a:prstGeom>
          <a:solidFill>
            <a:srgbClr val="3C4A5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235915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 FOR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0" y="2706624"/>
            <a:ext cx="3504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result of comparing an uploaded résumé to a JD: a match score, missing keywords, red flags, and STAR-format improvement suggestions.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0" y="4032504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RELATIONSHIPS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0" y="4325112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65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→ User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772400" y="510235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5376672"/>
            <a:ext cx="3504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(none)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·  Placement Resources &amp; Interview Skill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46304" cy="14630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 · SCHEMA 13 / 18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Topic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subject tag (e.g. DSA, DBMS, OS) used to organise resources and questions.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6583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94560"/>
            <a:ext cx="54864" cy="370332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59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2724912"/>
            <a:ext cx="6016752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String, required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createdBy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ObjectId → User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 =now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0" y="2194560"/>
            <a:ext cx="4053535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0" y="2194560"/>
            <a:ext cx="54864" cy="3703320"/>
          </a:xfrm>
          <a:prstGeom prst="rect">
            <a:avLst/>
          </a:prstGeom>
          <a:solidFill>
            <a:srgbClr val="3C4A5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235915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 FOR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0" y="2706624"/>
            <a:ext cx="3504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two tagging dimensions across the platform. Resources, coding questions, learning paths and progress are all keyed by topic.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0" y="4032504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RELATIONSHIPS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0" y="4325112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65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createdBy → User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65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referenced by Resource, CodingQuestion, ...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772400" y="510235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5376672"/>
            <a:ext cx="3504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(none)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·  Placement Resources &amp; Interview Skill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46304" cy="14630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 · SCHEMA 14 / 18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target company with its interview pattern; used to focus preparation.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6583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94560"/>
            <a:ext cx="54864" cy="370332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59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2724912"/>
            <a:ext cx="6016752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String, required, unique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interviewPattern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difficultyLevel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 =now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0" y="2194560"/>
            <a:ext cx="4053535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0" y="2194560"/>
            <a:ext cx="54864" cy="3703320"/>
          </a:xfrm>
          <a:prstGeom prst="rect">
            <a:avLst/>
          </a:prstGeom>
          <a:solidFill>
            <a:srgbClr val="3C4A5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235915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 FOR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0" y="2706624"/>
            <a:ext cx="3504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tagging dimension. Sessions, mock interviews, the Interview Game and resources can all be "focused" on a company.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0" y="4032504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RELATIONSHIPS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0" y="4325112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65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referenced by MentorshipSession,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65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MockInterview, InterviewGame, Resource ...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772400" y="510235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5376672"/>
            <a:ext cx="3504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(unique)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·  Placement Resources &amp; Interview Skill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46304" cy="14630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 · SCHEMA 15 / 18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piece of mentor-uploaded study material, tagged by topic, company and level.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6583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94560"/>
            <a:ext cx="54864" cy="370332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59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2724912"/>
            <a:ext cx="6016752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String, req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ObjectId → Topic, req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enum beginner|intermediate|advanced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resourceType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enum video|article|pdf|link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fileUrl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uploadedBy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ObjectId → User, req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companyTag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ObjectId → Company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 =now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0" y="2194560"/>
            <a:ext cx="4053535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0" y="2194560"/>
            <a:ext cx="54864" cy="3703320"/>
          </a:xfrm>
          <a:prstGeom prst="rect">
            <a:avLst/>
          </a:prstGeom>
          <a:solidFill>
            <a:srgbClr val="3C4A5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235915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 FOR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0" y="2706624"/>
            <a:ext cx="3504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trusted, curated library. uploadedBy is the ownership field the access checks use so only the uploader (or an admin) can edit or delete it.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0" y="4032504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RELATIONSHIPS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0" y="4325112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65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 → Topic · companyTag → Company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65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uploadedBy → User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772400" y="510235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5376672"/>
            <a:ext cx="3504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{topic, level} · {uploadedBy} · {createdAt: -1}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·  Placement Resources &amp; Interview Skill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46304" cy="14630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 · SCHEMA 16 / 18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LearningPath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ordered study path through a topic's resources; AI can generate it. Steps embedded.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4864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94560"/>
            <a:ext cx="54864" cy="370332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59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2724912"/>
            <a:ext cx="4919472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ObjectId → User, req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ObjectId → Topic, req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enum beginner|</a:t>
            </a:r>
            <a:endParaRPr lang="en-US" sz="1100" dirty="0"/>
          </a:p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intermediate|advanced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[stepSchema]  →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totalSteps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Number =0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completedSteps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Number =0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progress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Number =0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aiGenerated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Boolean =false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 =now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150815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2194560"/>
            <a:ext cx="54864" cy="3703320"/>
          </a:xfrm>
          <a:prstGeom prst="rect">
            <a:avLst/>
          </a:prstGeom>
          <a:solidFill>
            <a:srgbClr val="3C4A52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2359152"/>
            <a:ext cx="4602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EMBEDDED · stepSchema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93408" y="2724912"/>
            <a:ext cx="4583887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Number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ObjectId → Resource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resourceTitle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resourceLink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estimatedTime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completed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Boolean =false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completedAt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·  Placement Resources &amp; Interview Skill Manager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46304" cy="14630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 · SCHEMA 17 / 18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mentee's running progress: completed resources, interview-score averages, per-topic %.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6583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94560"/>
            <a:ext cx="54864" cy="370332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59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2724912"/>
            <a:ext cx="6016752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mentee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ObjectId → User, req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completedResources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[ObjectId → Resource]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mockInterviewStats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technicalScoreAvg =0,</a:t>
            </a:r>
            <a:endParaRPr lang="en-US" sz="1100" dirty="0"/>
          </a:p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hrScoreAvg =0,</a:t>
            </a:r>
            <a:endParaRPr lang="en-US" sz="1100" dirty="0"/>
          </a:p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gdScoreAvg =0 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topicProgress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[{ topic → Topic,</a:t>
            </a:r>
            <a:endParaRPr lang="en-US" sz="1100" dirty="0"/>
          </a:p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percentage =0 }]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updatedAt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 =now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0" y="2194560"/>
            <a:ext cx="4053535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0" y="2194560"/>
            <a:ext cx="54864" cy="3703320"/>
          </a:xfrm>
          <a:prstGeom prst="rect">
            <a:avLst/>
          </a:prstGeom>
          <a:solidFill>
            <a:srgbClr val="3C4A5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235915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 FOR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0" y="2706624"/>
            <a:ext cx="3504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analytics dashboard and makes "is this student improving?" answerable — the measurement the whole platform is built to provide.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0" y="4032504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RELATIONSHIPS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0" y="4325112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65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mentee → User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65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completedResources → Resource · topic → Topic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772400" y="510235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5376672"/>
            <a:ext cx="3504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{mentee}  — looked up per student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·  Placement Resources &amp; Interview Skill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46304" cy="14630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 · SCHEMA 18 / 18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in-app / email alert for a key event; auto-deleted after 90 days via a TTL index.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6583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94560"/>
            <a:ext cx="54864" cy="370332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59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2724912"/>
            <a:ext cx="6016752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ObjectId → User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String, required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enum session|mock|resource|general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isRead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Boolean =false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3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 =now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0" y="2194560"/>
            <a:ext cx="4053535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0" y="2194560"/>
            <a:ext cx="54864" cy="3703320"/>
          </a:xfrm>
          <a:prstGeom prst="rect">
            <a:avLst/>
          </a:prstGeom>
          <a:solidFill>
            <a:srgbClr val="3C4A5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235915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 FOR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0" y="2706624"/>
            <a:ext cx="3504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Notifies users of bookings, approvals, new resources, etc. A TTL index lets MongoDB purge old notifications automatically — no cron job needed.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0" y="4032504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RELATIONSHIPS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0" y="4325112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653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→ User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772400" y="510235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5376672"/>
            <a:ext cx="3504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{user, createdAt: -1} · {user, isRead}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TTL on createdAt (90 days)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·  Placement Resources &amp; Interview Skill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46304" cy="14630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86000"/>
            <a:ext cx="54864" cy="114300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432304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(React SPA)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816352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axios · Socket.IO · PeerJS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1840" y="26334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794760" y="228600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94760" y="2286000"/>
            <a:ext cx="54864" cy="114300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12" name="Text 10"/>
          <p:cNvSpPr/>
          <p:nvPr/>
        </p:nvSpPr>
        <p:spPr>
          <a:xfrm>
            <a:off x="3904488" y="2432304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(Node.js)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904488" y="2816352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 + Socket.IO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46520" y="26334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949440" y="2286000"/>
            <a:ext cx="2103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49440" y="2286000"/>
            <a:ext cx="54864" cy="1143000"/>
          </a:xfrm>
          <a:prstGeom prst="rect">
            <a:avLst/>
          </a:prstGeom>
          <a:solidFill>
            <a:srgbClr val="3C4A52"/>
          </a:solidFill>
          <a:ln/>
        </p:spPr>
      </p:sp>
      <p:sp>
        <p:nvSpPr>
          <p:cNvPr id="17" name="Text 15"/>
          <p:cNvSpPr/>
          <p:nvPr/>
        </p:nvSpPr>
        <p:spPr>
          <a:xfrm>
            <a:off x="7059168" y="2432304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59168" y="281635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ODM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052560" y="26334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555480" y="2286000"/>
            <a:ext cx="199339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555480" y="2286000"/>
            <a:ext cx="54864" cy="114300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22" name="Text 20"/>
          <p:cNvSpPr/>
          <p:nvPr/>
        </p:nvSpPr>
        <p:spPr>
          <a:xfrm>
            <a:off x="9665208" y="2432304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665208" y="2816352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3886200"/>
            <a:ext cx="2560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3886200"/>
            <a:ext cx="54864" cy="960120"/>
          </a:xfrm>
          <a:prstGeom prst="rect">
            <a:avLst/>
          </a:prstGeom>
          <a:solidFill>
            <a:srgbClr val="3C4A52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032504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/ Gemini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49808" y="4416552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56432" y="3886200"/>
            <a:ext cx="2560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56432" y="3886200"/>
            <a:ext cx="54864" cy="960120"/>
          </a:xfrm>
          <a:prstGeom prst="rect">
            <a:avLst/>
          </a:prstGeom>
          <a:solidFill>
            <a:srgbClr val="3C4A52"/>
          </a:solidFill>
          <a:ln/>
        </p:spPr>
      </p:sp>
      <p:sp>
        <p:nvSpPr>
          <p:cNvPr id="30" name="Text 28"/>
          <p:cNvSpPr/>
          <p:nvPr/>
        </p:nvSpPr>
        <p:spPr>
          <a:xfrm>
            <a:off x="3566160" y="4032504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Judge0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3566160" y="4416552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sandbox exec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72784" y="3886200"/>
            <a:ext cx="2560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72784" y="3886200"/>
            <a:ext cx="54864" cy="960120"/>
          </a:xfrm>
          <a:prstGeom prst="rect">
            <a:avLst/>
          </a:prstGeom>
          <a:solidFill>
            <a:srgbClr val="3C4A52"/>
          </a:solidFill>
          <a:ln/>
        </p:spPr>
      </p:sp>
      <p:sp>
        <p:nvSpPr>
          <p:cNvPr id="34" name="Text 32"/>
          <p:cNvSpPr/>
          <p:nvPr/>
        </p:nvSpPr>
        <p:spPr>
          <a:xfrm>
            <a:off x="6382512" y="4032504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382512" y="4416552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P2P video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089136" y="3886200"/>
            <a:ext cx="2560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089136" y="3886200"/>
            <a:ext cx="54864" cy="960120"/>
          </a:xfrm>
          <a:prstGeom prst="rect">
            <a:avLst/>
          </a:prstGeom>
          <a:solidFill>
            <a:srgbClr val="3C4A52"/>
          </a:solidFill>
          <a:ln/>
        </p:spPr>
      </p:sp>
      <p:sp>
        <p:nvSpPr>
          <p:cNvPr id="38" name="Text 36"/>
          <p:cNvSpPr/>
          <p:nvPr/>
        </p:nvSpPr>
        <p:spPr>
          <a:xfrm>
            <a:off x="9198864" y="4032504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9198864" y="4416552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" y="516636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server: middleware → routing → auth/validate → handler → model → error handler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JWT auth → horizontally scalable; video flows peer-to-peer, not through the server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·  Placement Resources &amp; Interview Skill Manager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46304" cy="14630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APPROACH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Approach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54864" cy="105156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1783080"/>
            <a:ext cx="103628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 </a:t>
            </a:r>
            <a:pPr indent="0" marL="0">
              <a:buNone/>
            </a:pPr>
            <a:r>
              <a:rPr lang="en-US" sz="180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the existing app in place — don’t rewrite.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" y="29718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Feature-complete but not yet safe. Rewriting wastes working code and risks the student handoff.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35204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3886200"/>
            <a:ext cx="54864" cy="169164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12" name="Text 10"/>
          <p:cNvSpPr/>
          <p:nvPr/>
        </p:nvSpPr>
        <p:spPr>
          <a:xfrm>
            <a:off x="859536" y="410565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Security-first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9536" y="459943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exploitable issues before any polish.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34256" y="3886200"/>
            <a:ext cx="35204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34256" y="3886200"/>
            <a:ext cx="54864" cy="169164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16" name="Text 14"/>
          <p:cNvSpPr/>
          <p:nvPr/>
        </p:nvSpPr>
        <p:spPr>
          <a:xfrm>
            <a:off x="4553712" y="410565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Small, safe increments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53712" y="459943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change is backward-compatible and reuses shared helpers.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28432" y="3886200"/>
            <a:ext cx="35204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28432" y="3886200"/>
            <a:ext cx="54864" cy="169164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20" name="Text 18"/>
          <p:cNvSpPr/>
          <p:nvPr/>
        </p:nvSpPr>
        <p:spPr>
          <a:xfrm>
            <a:off x="8247888" y="410565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before “done”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47888" y="459943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marked complete without an observed test pass.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·  Placement Resources &amp; Interview Skill Manager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46304" cy="14630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 COMPLETED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Foundations &amp; Security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3492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74520"/>
            <a:ext cx="54864" cy="379476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084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251460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Boot-time environment validation (fail fast)</a:t>
            </a:r>
            <a:endParaRPr lang="en-US" sz="13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logging + per-request request IDs</a:t>
            </a:r>
            <a:endParaRPr lang="en-US" sz="13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error handling (correct 4xx vs 5xx)</a:t>
            </a:r>
            <a:endParaRPr lang="en-US" sz="13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request validation</a:t>
            </a:r>
            <a:endParaRPr lang="en-US" sz="13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rate limiting (auth / AI / code-exec)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874520"/>
            <a:ext cx="53492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874520"/>
            <a:ext cx="54864" cy="3794760"/>
          </a:xfrm>
          <a:prstGeom prst="rect">
            <a:avLst/>
          </a:prstGeom>
          <a:solidFill>
            <a:srgbClr val="3C4A52"/>
          </a:solidFill>
          <a:ln/>
        </p:spPr>
      </p:sp>
      <p:sp>
        <p:nvSpPr>
          <p:cNvPr id="11" name="Text 9"/>
          <p:cNvSpPr/>
          <p:nvPr/>
        </p:nvSpPr>
        <p:spPr>
          <a:xfrm>
            <a:off x="6647688" y="20848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SECURITY-CRITICAL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47688" y="251460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Server-authoritative scoring (no forgery)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Code-exec sandbox (no RCE in production)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JWT authentication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+ ownership access control (fixed IDORs)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Stored-XSS fix in emails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strong passwords, lockout, reset, token invalidation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·  Placement Resources &amp; Interview Skill Manager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46304" cy="14630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 COMPLETED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Correctness, Scale &amp; Proof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029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74520"/>
            <a:ext cx="54864" cy="3794760"/>
          </a:xfrm>
          <a:prstGeom prst="rect">
            <a:avLst/>
          </a:prstGeom>
          <a:solidFill>
            <a:srgbClr val="3C4A52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084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3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CORRECTNESS &amp; SCALE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32688" y="2514600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on 8 hot collections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TTL on notifications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slot booking (race eliminated)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helper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in Docker for dev &amp; testing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35040" y="202996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 AGAINST A REAL (DOCKER) MONGODB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251460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35040" y="2514600"/>
            <a:ext cx="54864" cy="141732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12" name="Text 10"/>
          <p:cNvSpPr/>
          <p:nvPr/>
        </p:nvSpPr>
        <p:spPr>
          <a:xfrm>
            <a:off x="6144768" y="2734056"/>
            <a:ext cx="2478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6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/ 9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144768" y="3465576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flow tests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06840" y="251460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006840" y="2514600"/>
            <a:ext cx="54864" cy="141732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16" name="Text 14"/>
          <p:cNvSpPr/>
          <p:nvPr/>
        </p:nvSpPr>
        <p:spPr>
          <a:xfrm>
            <a:off x="9116568" y="2734056"/>
            <a:ext cx="2478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6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/ 6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116568" y="3465576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Access-control tests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420624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4206240"/>
            <a:ext cx="54864" cy="141732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20" name="Text 18"/>
          <p:cNvSpPr/>
          <p:nvPr/>
        </p:nvSpPr>
        <p:spPr>
          <a:xfrm>
            <a:off x="6144768" y="4425696"/>
            <a:ext cx="2478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6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 / 409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144768" y="5157216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race: one wins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06840" y="420624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06840" y="4206240"/>
            <a:ext cx="54864" cy="141732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24" name="Text 22"/>
          <p:cNvSpPr/>
          <p:nvPr/>
        </p:nvSpPr>
        <p:spPr>
          <a:xfrm>
            <a:off x="9116568" y="4425696"/>
            <a:ext cx="2478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6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9116568" y="5157216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builds confirmed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35040" y="577900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claimed “done” without observing the test pass.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·  Placement Resources &amp; Interview Skill Manager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46304" cy="14630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 TO BE ADDED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Week 1 — New Capabilities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on top of the secured foundations — turning PRISM from a toolbox into a guided, agentic prep coach.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345643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94560"/>
            <a:ext cx="54864" cy="178308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2414016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PRISM Copilot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77824" y="2907792"/>
            <a:ext cx="3017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chat front-door that books mentors, builds roadmaps, helps with résumés and answers questions across the platform.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2194560"/>
            <a:ext cx="345643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2194560"/>
            <a:ext cx="54864" cy="178308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12" name="Text 10"/>
          <p:cNvSpPr/>
          <p:nvPr/>
        </p:nvSpPr>
        <p:spPr>
          <a:xfrm>
            <a:off x="4581144" y="2414016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Prep-Readiness Spine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81144" y="2907792"/>
            <a:ext cx="3017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readiness score across five skill pillars — aptitude, DSA, CS core, communication, résumé — from every attempt.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2194560"/>
            <a:ext cx="345643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2194560"/>
            <a:ext cx="54864" cy="178308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16" name="Text 14"/>
          <p:cNvSpPr/>
          <p:nvPr/>
        </p:nvSpPr>
        <p:spPr>
          <a:xfrm>
            <a:off x="8284464" y="2414016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Plan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84464" y="2907792"/>
            <a:ext cx="3017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short, rule-based plan (max 4 items) that tells a student exactly what to do next — no guesswork.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270248"/>
            <a:ext cx="345643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4270248"/>
            <a:ext cx="54864" cy="178308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20" name="Text 18"/>
          <p:cNvSpPr/>
          <p:nvPr/>
        </p:nvSpPr>
        <p:spPr>
          <a:xfrm>
            <a:off x="877824" y="4489704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Mentor Review Queue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77824" y="4983480"/>
            <a:ext cx="3017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grade submitted work in one place; each result feeds back into the student’s skill signals.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43400" y="4270248"/>
            <a:ext cx="345643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43400" y="4270248"/>
            <a:ext cx="54864" cy="178308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24" name="Text 22"/>
          <p:cNvSpPr/>
          <p:nvPr/>
        </p:nvSpPr>
        <p:spPr>
          <a:xfrm>
            <a:off x="4581144" y="4489704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Résumé Canvas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81144" y="4983480"/>
            <a:ext cx="3017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Draft, AI-refine and export a résumé inside a live editing canvas, side by side with the chat.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46720" y="4270248"/>
            <a:ext cx="345643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46720" y="4270248"/>
            <a:ext cx="54864" cy="178308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28" name="Text 26"/>
          <p:cNvSpPr/>
          <p:nvPr/>
        </p:nvSpPr>
        <p:spPr>
          <a:xfrm>
            <a:off x="8284464" y="4489704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In-chat Code Sandbox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84464" y="4983480"/>
            <a:ext cx="3017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code and generate artifacts directly inside the assistant conversation, results kept with the thread.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·  Placement Resources &amp; Interview Skill Manager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46304" cy="14630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 TO BE ADDED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PRISM Copilot — How It Works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chat surface over ~65 endpoints: the assistant plans a step, fetches grounded data, and proposes actions you approve.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274320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0F6E63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2194560"/>
            <a:ext cx="2596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 in chat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01568" y="2583180"/>
            <a:ext cx="347472" cy="0"/>
          </a:xfrm>
          <a:prstGeom prst="line">
            <a:avLst/>
          </a:prstGeom>
          <a:noFill/>
          <a:ln w="20320">
            <a:solidFill>
              <a:srgbClr val="0F6E6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749040" y="2194560"/>
            <a:ext cx="274320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3C4A52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22192" y="2194560"/>
            <a:ext cx="2596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plans a step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20640" y="2971800"/>
            <a:ext cx="0" cy="274320"/>
          </a:xfrm>
          <a:prstGeom prst="line">
            <a:avLst/>
          </a:prstGeom>
          <a:noFill/>
          <a:ln w="20320">
            <a:solidFill>
              <a:srgbClr val="0F6E63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193792" y="29626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calls a tool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40080" y="3310128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E4EFEC"/>
          </a:solidFill>
          <a:ln w="12700">
            <a:solidFill>
              <a:srgbClr val="0F6E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401568"/>
            <a:ext cx="1197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" y="3712464"/>
            <a:ext cx="1197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75688" y="3698748"/>
            <a:ext cx="301752" cy="0"/>
          </a:xfrm>
          <a:prstGeom prst="line">
            <a:avLst/>
          </a:prstGeom>
          <a:noFill/>
          <a:ln w="20320">
            <a:solidFill>
              <a:srgbClr val="0F6E6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377440" y="3310128"/>
            <a:ext cx="324612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0F6E63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50592" y="3310128"/>
            <a:ext cx="3099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grounded data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41848" y="3698748"/>
            <a:ext cx="365760" cy="0"/>
          </a:xfrm>
          <a:prstGeom prst="line">
            <a:avLst/>
          </a:prstGeom>
          <a:noFill/>
          <a:ln w="20320">
            <a:solidFill>
              <a:srgbClr val="0F6E6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35040" y="3310128"/>
            <a:ext cx="338328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0F6E63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08192" y="3310128"/>
            <a:ext cx="3236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deep links in chat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315968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EBEDEE"/>
          </a:solidFill>
          <a:ln w="12700">
            <a:solidFill>
              <a:srgbClr val="3C4A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4407408"/>
            <a:ext cx="1197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C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9808" y="4718304"/>
            <a:ext cx="1197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something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75688" y="4704588"/>
            <a:ext cx="301752" cy="0"/>
          </a:xfrm>
          <a:prstGeom prst="line">
            <a:avLst/>
          </a:prstGeom>
          <a:noFill/>
          <a:ln w="20320">
            <a:solidFill>
              <a:srgbClr val="3C4A5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377440" y="4315968"/>
            <a:ext cx="233172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3C4A52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450592" y="4315968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an action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27448" y="4704588"/>
            <a:ext cx="301752" cy="0"/>
          </a:xfrm>
          <a:prstGeom prst="line">
            <a:avLst/>
          </a:prstGeom>
          <a:noFill/>
          <a:ln w="20320">
            <a:solidFill>
              <a:srgbClr val="3C4A52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029200" y="4315968"/>
            <a:ext cx="2331720" cy="777240"/>
          </a:xfrm>
          <a:prstGeom prst="roundRect">
            <a:avLst>
              <a:gd name="adj" fmla="val 10588"/>
            </a:avLst>
          </a:prstGeom>
          <a:solidFill>
            <a:srgbClr val="0F6E63"/>
          </a:solidFill>
          <a:ln w="15875">
            <a:solidFill>
              <a:srgbClr val="0F6E63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102352" y="4315968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confirm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379208" y="4704588"/>
            <a:ext cx="301752" cy="0"/>
          </a:xfrm>
          <a:prstGeom prst="line">
            <a:avLst/>
          </a:prstGeom>
          <a:noFill/>
          <a:ln w="20320">
            <a:solidFill>
              <a:srgbClr val="3C4A52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680960" y="4315968"/>
            <a:ext cx="320040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3C4A52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754112" y="4315968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· server re-checks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5349240"/>
            <a:ext cx="1091153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" y="5349240"/>
            <a:ext cx="54864" cy="96012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54498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GUARDRAILS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14400" y="5742432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tools propose, never mutate  ·  every write needs your confirmation  ·  the server re-checks role &amp; ownership on execute  ·  pasted documents are treated as data, not instructions (prompt-injection guard).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·  Placement Resources &amp; Interview Skill Manager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46304" cy="14630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PLANNED WORK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Hardening Roadmap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work to carry both the foundations and the new capabilities to college-wide, production-grade reliability.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2578608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03120"/>
            <a:ext cx="54864" cy="370332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2377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&amp; Correctness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77824" y="3291840"/>
            <a:ext cx="212140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for realtime scale</a:t>
            </a:r>
            <a:endParaRPr lang="en-US" sz="12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on all lists</a:t>
            </a:r>
            <a:endParaRPr lang="en-US" sz="12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AI JSON parsing</a:t>
            </a:r>
            <a:endParaRPr lang="en-US" sz="12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atomic writes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2103120"/>
            <a:ext cx="2578608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2103120"/>
            <a:ext cx="54864" cy="370332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12" name="Text 10"/>
          <p:cNvSpPr/>
          <p:nvPr/>
        </p:nvSpPr>
        <p:spPr>
          <a:xfrm>
            <a:off x="3602736" y="2377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Realtime &amp; UX Polish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21024" y="3291840"/>
            <a:ext cx="212140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video for strict NATs</a:t>
            </a:r>
            <a:endParaRPr lang="en-US" sz="12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 realtime wiring</a:t>
            </a:r>
            <a:endParaRPr lang="en-US" sz="12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/ mobile pass</a:t>
            </a:r>
            <a:endParaRPr lang="en-US" sz="12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&amp; error states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103120"/>
            <a:ext cx="2578608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2103120"/>
            <a:ext cx="54864" cy="370332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16" name="Text 14"/>
          <p:cNvSpPr/>
          <p:nvPr/>
        </p:nvSpPr>
        <p:spPr>
          <a:xfrm>
            <a:off x="6345936" y="2377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Reliability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64224" y="3291840"/>
            <a:ext cx="212140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suite</a:t>
            </a:r>
            <a:endParaRPr lang="en-US" sz="12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metrics endpoints</a:t>
            </a:r>
            <a:endParaRPr lang="en-US" sz="12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&amp; restore drill</a:t>
            </a:r>
            <a:endParaRPr lang="en-US" sz="12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alerts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69680" y="2103120"/>
            <a:ext cx="2578608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  <a:effectLst>
            <a:outerShdw sx="100000" sy="100000" kx="0" ky="0" algn="bl" rotWithShape="0" blurRad="88900" dist="25400" dir="5400000">
              <a:srgbClr val="B9B6AD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869680" y="2103120"/>
            <a:ext cx="54864" cy="370332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20" name="Text 18"/>
          <p:cNvSpPr/>
          <p:nvPr/>
        </p:nvSpPr>
        <p:spPr>
          <a:xfrm>
            <a:off x="9089136" y="2377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&amp; Handoff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07424" y="3291840"/>
            <a:ext cx="212140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Dockerized prod deploy</a:t>
            </a:r>
            <a:endParaRPr lang="en-US" sz="12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(TLS) + PM2</a:t>
            </a:r>
            <a:endParaRPr lang="en-US" sz="12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runbook &amp; docs</a:t>
            </a:r>
            <a:endParaRPr lang="en-US" sz="12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6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guide for next batch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·  Placement Resources &amp; Interview Skill Manager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C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" y="2331720"/>
            <a:ext cx="548640" cy="128016"/>
          </a:xfrm>
          <a:prstGeom prst="rect">
            <a:avLst/>
          </a:prstGeom>
          <a:solidFill>
            <a:srgbClr val="6FB9AC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6060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CEA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033272" y="38862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PRISM is · Workflows &amp; flowcharts · Requirements · Database (18 schemas + relationships) · Architecture · Secured foundations · New agentic capabilities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51560" y="4709160"/>
            <a:ext cx="10058400" cy="0"/>
          </a:xfrm>
          <a:prstGeom prst="line">
            <a:avLst/>
          </a:prstGeom>
          <a:noFill/>
          <a:ln w="12700">
            <a:solidFill>
              <a:srgbClr val="3A46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 Melvin Denish  ·  CSE  ·  Week 1 Review  ·  Questions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CSE Department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PRISM — Week 1 Review</dc:title>
  <dc:subject>PptxGenJS Presentation</dc:subject>
  <dc:creator>L. Melvin Denish</dc:creator>
  <cp:lastModifiedBy>L. Melvin Denish</cp:lastModifiedBy>
  <cp:revision>1</cp:revision>
  <dcterms:created xsi:type="dcterms:W3CDTF">2026-06-12T10:07:41Z</dcterms:created>
  <dcterms:modified xsi:type="dcterms:W3CDTF">2026-06-12T10:07:41Z</dcterms:modified>
</cp:coreProperties>
</file>