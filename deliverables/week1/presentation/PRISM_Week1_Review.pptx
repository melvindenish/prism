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spc="100" kern="0" dirty="0">
                <a:solidFill>
                  <a:srgbClr val="ECEA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PRISM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05156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BA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Resources &amp; Interview Skill Manager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51560" y="3977640"/>
            <a:ext cx="3246120" cy="457200"/>
          </a:xfrm>
          <a:prstGeom prst="rect">
            <a:avLst/>
          </a:prstGeom>
          <a:solidFill>
            <a:srgbClr val="1C262B"/>
          </a:solidFill>
          <a:ln w="12700">
            <a:solidFill>
              <a:srgbClr val="6FB9A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3977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FB9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1   ·   INTERNSHIP REVIEW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5029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EA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Melvin Denish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BA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 ·  3rd Year  ·  June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OVERVIEW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12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0240"/>
            <a:ext cx="54864" cy="84124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20240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91640" y="192024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project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212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920240"/>
            <a:ext cx="54864" cy="84124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20240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269480" y="192024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objectives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054096"/>
            <a:ext cx="5212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054096"/>
            <a:ext cx="54864" cy="84124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054096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691640" y="3054096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proposed workflow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17920" y="3054096"/>
            <a:ext cx="5212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054096"/>
            <a:ext cx="54864" cy="84124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3054096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9480" y="3054096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40080" y="4187952"/>
            <a:ext cx="5212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187952"/>
            <a:ext cx="54864" cy="84124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187952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691640" y="4187952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+ full schema reference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217920" y="4187952"/>
            <a:ext cx="5212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4187952"/>
            <a:ext cx="54864" cy="84124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187952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269480" y="4187952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0080" y="5321808"/>
            <a:ext cx="5212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5321808"/>
            <a:ext cx="54864" cy="84124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5321808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691640" y="532180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approach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217920" y="5321808"/>
            <a:ext cx="5212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217920" y="5321808"/>
            <a:ext cx="54864" cy="84124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5321808"/>
            <a:ext cx="822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7269480" y="532180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(with proof)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PRISM?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the entire campus-placement preparation journey.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40280"/>
            <a:ext cx="54864" cy="13716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24414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Mentorship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9536" y="291693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sessions with seniors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93008" y="224028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93008" y="2240280"/>
            <a:ext cx="54864" cy="13716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2" name="Text 10"/>
          <p:cNvSpPr/>
          <p:nvPr/>
        </p:nvSpPr>
        <p:spPr>
          <a:xfrm>
            <a:off x="3712464" y="24414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Mock interviews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12464" y="291693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mentor-hosted practice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45936" y="224028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45936" y="2240280"/>
            <a:ext cx="54864" cy="13716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6" name="Text 14"/>
          <p:cNvSpPr/>
          <p:nvPr/>
        </p:nvSpPr>
        <p:spPr>
          <a:xfrm>
            <a:off x="6565392" y="24414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interview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65392" y="291693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interviewer + evaluation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98864" y="224028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98864" y="2240280"/>
            <a:ext cx="54864" cy="13716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0" name="Text 18"/>
          <p:cNvSpPr/>
          <p:nvPr/>
        </p:nvSpPr>
        <p:spPr>
          <a:xfrm>
            <a:off x="9418320" y="24414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Interview Game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418320" y="291693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6-round placement simulation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3886200"/>
            <a:ext cx="54864" cy="13716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4" name="Text 22"/>
          <p:cNvSpPr/>
          <p:nvPr/>
        </p:nvSpPr>
        <p:spPr>
          <a:xfrm>
            <a:off x="859536" y="40873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Résumé tools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456285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+ ATS analysis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493008" y="388620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93008" y="3886200"/>
            <a:ext cx="54864" cy="13716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8" name="Text 26"/>
          <p:cNvSpPr/>
          <p:nvPr/>
        </p:nvSpPr>
        <p:spPr>
          <a:xfrm>
            <a:off x="3712464" y="40873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 sandbox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712464" y="456285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languages, test cases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45936" y="388620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45936" y="3886200"/>
            <a:ext cx="54864" cy="13716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2" name="Text 30"/>
          <p:cNvSpPr/>
          <p:nvPr/>
        </p:nvSpPr>
        <p:spPr>
          <a:xfrm>
            <a:off x="6565392" y="40873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565392" y="456285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Mentor-verified library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198864" y="388620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198864" y="3886200"/>
            <a:ext cx="54864" cy="13716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6" name="Text 34"/>
          <p:cNvSpPr/>
          <p:nvPr/>
        </p:nvSpPr>
        <p:spPr>
          <a:xfrm>
            <a:off x="9418320" y="40873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418320" y="456285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real progress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MOTIVATION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204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228600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2402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4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96112" y="29443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96112" y="345643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across WhatsApp groups, random PDFs, and a dozen separate sites.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0" y="2011680"/>
            <a:ext cx="35204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2011680"/>
            <a:ext cx="54864" cy="228600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22402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4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828032" y="29443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Unverified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28032" y="345643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trusted, mentor-vetted source of resources or questions.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03920" y="2011680"/>
            <a:ext cx="35204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03920" y="2011680"/>
            <a:ext cx="54864" cy="228600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7" name="Text 15"/>
          <p:cNvSpPr/>
          <p:nvPr/>
        </p:nvSpPr>
        <p:spPr>
          <a:xfrm>
            <a:off x="8759952" y="22402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4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759952" y="29443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Unmeasured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759952" y="345643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student nor department can see if preparation is working.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617720"/>
            <a:ext cx="54864" cy="7315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61772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</a:t>
            </a:r>
            <a:pPr algn="l" indent="0" marL="0">
              <a:buNone/>
            </a:pPr>
            <a:r>
              <a:rPr lang="en-US" sz="1600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one role-based, auditable platform that fixes all three.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49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0240"/>
            <a:ext cx="54864" cy="34747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7" name="Shape 5"/>
          <p:cNvSpPr/>
          <p:nvPr/>
        </p:nvSpPr>
        <p:spPr>
          <a:xfrm>
            <a:off x="6355080" y="1920240"/>
            <a:ext cx="5349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55080" y="1920240"/>
            <a:ext cx="54864" cy="34747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219456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mentees with mentors (book → meet → feedback → rate)</a:t>
            </a:r>
            <a:endParaRPr lang="en-US" sz="15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1:1 AND 1:many teaching</a:t>
            </a:r>
            <a:endParaRPr lang="en-US" sz="15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practice without a human always present (AI)</a:t>
            </a:r>
            <a:endParaRPr lang="en-US" sz="15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students build strong, ATS-ready résumés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47688" y="219456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trusted resource library + AI learning paths</a:t>
            </a:r>
            <a:endParaRPr lang="en-US" sz="15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student progress visible and measurable</a:t>
            </a:r>
            <a:endParaRPr lang="en-US" sz="15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safe &amp; reliable enough for real, college-wide use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47688" y="4846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Week 1 engineering focus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 — Three Roles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204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0240"/>
            <a:ext cx="54864" cy="32004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57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Mentee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student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32688" y="3017520"/>
            <a:ext cx="2971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mentorship sessions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Practise AI interviews &amp; the Game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analyze résumés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resources, track progress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0" y="1920240"/>
            <a:ext cx="35204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1920240"/>
            <a:ext cx="54864" cy="32004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157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Mentor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4632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Senior / placed / faculty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64608" y="3017520"/>
            <a:ext cx="2971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availability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1:1 and group mocks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trusted resources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structured feedback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03920" y="1920240"/>
            <a:ext cx="35204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03920" y="1920240"/>
            <a:ext cx="54864" cy="32004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7" name="Text 15"/>
          <p:cNvSpPr/>
          <p:nvPr/>
        </p:nvSpPr>
        <p:spPr>
          <a:xfrm>
            <a:off x="8778240" y="2157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7824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Placement coordinator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796528" y="3017520"/>
            <a:ext cx="2971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users &amp; content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topics / companies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the platform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platform-wide analytics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are enforced on the SERVER, on every action.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PROPOSED WORKFLOW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Mentorship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6276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46888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5968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04672" y="307238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availability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354787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49424" y="2468880"/>
            <a:ext cx="274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05456" y="2468880"/>
            <a:ext cx="16276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05456" y="246888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5968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670048" y="307238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book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670048" y="354787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Mentee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0" y="2468880"/>
            <a:ext cx="274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370832" y="2468880"/>
            <a:ext cx="16276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70832" y="246888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9" name="Text 17"/>
          <p:cNvSpPr/>
          <p:nvPr/>
        </p:nvSpPr>
        <p:spPr>
          <a:xfrm>
            <a:off x="4535424" y="25968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35424" y="307238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reject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35424" y="354787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80176" y="2468880"/>
            <a:ext cx="274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236208" y="2468880"/>
            <a:ext cx="16276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36208" y="246888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25968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00800" y="307238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video call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0" y="354787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Both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45552" y="2468880"/>
            <a:ext cx="274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101584" y="2468880"/>
            <a:ext cx="16276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01584" y="246888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1" name="Text 29"/>
          <p:cNvSpPr/>
          <p:nvPr/>
        </p:nvSpPr>
        <p:spPr>
          <a:xfrm>
            <a:off x="8266176" y="25968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266176" y="307238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66176" y="354787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710928" y="2468880"/>
            <a:ext cx="274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9966960" y="2468880"/>
            <a:ext cx="16276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966960" y="246888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7" name="Text 35"/>
          <p:cNvSpPr/>
          <p:nvPr/>
        </p:nvSpPr>
        <p:spPr>
          <a:xfrm>
            <a:off x="10131552" y="25968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131552" y="307238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each other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131552" y="354787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Both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0080" y="4343400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4343400"/>
            <a:ext cx="54864" cy="77724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43434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booking </a:t>
            </a:r>
            <a:pPr indent="0" marL="0">
              <a:buNone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two mentees can grab the same slot. Plus solo AI practice anytime, with no mentor required.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PROPOSED WORKFLOW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Model — Role AND Ownership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5422392"/>
                <a:gridCol w="1828800"/>
                <a:gridCol w="1828800"/>
                <a:gridCol w="18288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F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F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F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F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 resources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/ delete a resource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C4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 a session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session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panel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212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" y="5212080"/>
            <a:ext cx="54864" cy="7315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521208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“Own only” </a:t>
            </a:r>
            <a:pPr algn="l" indent="0" marL="0">
              <a:buNone/>
            </a:pPr>
            <a:r>
              <a:rPr lang="en-US" sz="14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an ownership check on the specific record, not just a role check — the key security idea (closes IDOR bugs).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SPECIFICATION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Requirements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4924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74520"/>
            <a:ext cx="54864" cy="3794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7" name="Shape 5"/>
          <p:cNvSpPr/>
          <p:nvPr/>
        </p:nvSpPr>
        <p:spPr>
          <a:xfrm>
            <a:off x="6355080" y="1874520"/>
            <a:ext cx="534924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55080" y="1874520"/>
            <a:ext cx="54864" cy="379476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profiles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Mentorship: availability, booking, sessions, ratings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practice: AI, Game, coding, GD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Résumé builder &amp; ATS analysis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library &amp; learning paths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Progress, analytics, notifications, admin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47688" y="20848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NON-FUNCTIONAL  ·  PRODUCTION-GRADE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47688" y="251460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role/ownership on every endpoint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score forgery · sandboxed code · authed realtime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Fail-fast config · structured errors · request tracing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queries · pagination · atomic writes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· secrets never leaked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Self-hostable &amp; student-maintainable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SPECIFICATION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468880" cy="56692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8745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182112" y="1874520"/>
            <a:ext cx="8369503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874520"/>
            <a:ext cx="7958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Vite 7 · React Router 7 · Socket.IO-client · PeerJS · Monaco · Recharts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2468880" cy="56692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49631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82112" y="2496312"/>
            <a:ext cx="8369503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2496312"/>
            <a:ext cx="7958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Express 4 · Socket.IO 4 · Mongoose 8 · JWT · bcrypt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118104"/>
            <a:ext cx="2468880" cy="56692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1181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182112" y="3118104"/>
            <a:ext cx="8369503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3118104"/>
            <a:ext cx="7958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(document database)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739896"/>
            <a:ext cx="2468880" cy="56692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3989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182112" y="3739896"/>
            <a:ext cx="8369503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0" y="3739896"/>
            <a:ext cx="7958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(Llama 3.1) · Google Gemini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361688"/>
            <a:ext cx="2468880" cy="56692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3616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execution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182112" y="4361688"/>
            <a:ext cx="8369503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0" y="4361688"/>
            <a:ext cx="7958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Judge0 (sandboxed)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83480"/>
            <a:ext cx="2468880" cy="56692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983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video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182112" y="4983480"/>
            <a:ext cx="8369503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4983480"/>
            <a:ext cx="7958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 via PeerJS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605272"/>
            <a:ext cx="2468880" cy="566928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0" name="Text 28"/>
          <p:cNvSpPr/>
          <p:nvPr/>
        </p:nvSpPr>
        <p:spPr>
          <a:xfrm>
            <a:off x="804672" y="56052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182112" y="5605272"/>
            <a:ext cx="8369503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0" y="5605272"/>
            <a:ext cx="79580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(MongoDB) · nginx · PM2 · Redis (planned)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Design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486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74520"/>
            <a:ext cx="54864" cy="3794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51460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(document DB) via Mongoose schemas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data owned by its parent (rounds, slots, résumé sections)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shared entities (User, Topic, Company, Resource)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only fields real queries touch → O(log n), not O(n)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index auto-purges old notifications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single-document writes guard integrity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37960" y="1874520"/>
            <a:ext cx="516636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74520"/>
            <a:ext cx="54864" cy="379476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1" name="Text 9"/>
          <p:cNvSpPr/>
          <p:nvPr/>
        </p:nvSpPr>
        <p:spPr>
          <a:xfrm>
            <a:off x="6830568" y="208483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COLLECTIONS  ·  CENTERED ON USER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81060" y="3566160"/>
            <a:ext cx="1280160" cy="640080"/>
          </a:xfrm>
          <a:prstGeom prst="ellipse">
            <a:avLst/>
          </a:prstGeom>
          <a:solidFill>
            <a:srgbClr val="0F6E63"/>
          </a:solidFill>
          <a:ln/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81060" y="35661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30568" y="2743200"/>
            <a:ext cx="1417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30568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Mentorship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994392" y="2743200"/>
            <a:ext cx="1417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94392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InterviewGame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30568" y="3703320"/>
            <a:ext cx="1417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0568" y="37033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994392" y="3703320"/>
            <a:ext cx="1417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94392" y="37033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30568" y="4663440"/>
            <a:ext cx="1417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0568" y="46634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ResumeDraft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94392" y="4663440"/>
            <a:ext cx="1417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94392" y="46634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REFERENCE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 Reference — All 18 Collections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collection follows, one per slide, with its complete fields and what it is used for.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User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7614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MENTORSHIP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03580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MentorshipSession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826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Availability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6210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1:MANY TEACHING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89534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MockInterview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1422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MockFeedback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38912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GDRoom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7274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SOLO PRACTICE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50017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InterviewGame  (+ round)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524865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QuestionBank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49554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CodingQuestion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7424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CodeSubmission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148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RÉSUMÉ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242316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 ResumeDraft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267004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 ResumeAnalysis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30083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 &amp; LEARNING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09360" y="32826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 Topic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09360" y="352958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 Company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09360" y="377647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 Resource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402336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 LearningPath  (+ step)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43616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 &amp; ALERTS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09360" y="463600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 Progress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8828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 Notification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— mentor, mentee, or admin. The hub every other record points back to.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2898648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String, required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String, required, unique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String, required (bcrypt hash)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mentor|mentee|admin, req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bio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[String]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expertise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[String]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aimingCompany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currentCompany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experienceLevel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college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graduationYear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050792" y="2724912"/>
            <a:ext cx="2898648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isOnline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Boolean =false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profilePicture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resumeUrl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totalReviews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failedLoginAttempts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lockUntil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passwordChangedAt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resetPasswordToken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(hashed)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resetPasswordExpire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identity, profile, mentor ratings, and the auth-security state: brute-force lockout, password-reset token (stored hashed), and a passwordChangedAt stamp used to invalidate old JWTs.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Referenced by nearly every collection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(mentor / mentee / user / uploadedBy ...)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(unique) · role · resetPasswordToken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2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MentorshipSession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booked 1:1 session between a mentee and a mentor — its whole lifecycle from request to rating.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mentee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aimingCompany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Company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scheduledDate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(minutes)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meetingLink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pending|approved|in-progress|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rejected|completed|cancelled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mentorFeedback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menteeFeedback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ratingGiven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the booking → approve → meet → rate loop. A mentee rating updates the mentor's average; ratingGiven guards against rating twice.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mentor, mentee → User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aimingCompany → Company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{mentor, status} · {mentee, status}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{scheduledDate: -1}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3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Availability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mentor's bookable calendar: recurring weekly slots plus concrete dated slots a mentee can claim.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weeklySlots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day enum(Mon–Sun),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startTime, endTime,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isAvailable =true }]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availableSlots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date, startTime, endTime,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isBooked =false,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bookedBy → User }]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timezone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='Asia/Kolkata'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flips availableSlots[i].isBooked via a single atomic conditional update, so two mentees can never claim the same slot under a race.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 → User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availableSlots.bookedBy → User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 — always loaded by mentor)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4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MockInterview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mentor-hosted group practice session (technical / HR / GD) with many participants.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technical|hr|gd,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[ObjectId → User]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companyFocus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Company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Topic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scheduledDate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meetingLink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scheduled|ongoing|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completed|cancelled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1:many teaching format — one mentor running a practice round for several mentees, who each receive a MockFeedback scorecard.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mentor, participants → User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companyFocus → Company · topic → Topic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{status, scheduledDate: -1} · {mentor}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5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MockFeedback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mentor's structured scorecard for one mentee in a mock interview.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mockInterview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MockInterview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communicationScore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problemSolvingScore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overallScore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strengths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weaknesses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suggestions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practice session into measurable, repeatable feedback (the rubric scores) plus qualitative notes that feed a mentee's progress record.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mockInterview → MockInterview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→ User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6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GDRoom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group-discussion room (up to 6) for multi-user GD practice.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[ObjectId → User]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maxParticipants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=6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waiting|active|completed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gdTopic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 the real-time Group Discussion feature; participants join over WebRTC and the room tracks who is present and the discussion prompt.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participants → User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7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InterviewGame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solo 6-round placement simulation, scored on the server. Each round is embedded.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48640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491947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[roundSchema]  →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currentRound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maxTotalScore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=600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in-progress|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completed|abandoned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difficulty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easy|medium|hard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companyFocus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Company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15081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235915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EMBEDDED · roundSchema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93408" y="2724912"/>
            <a:ext cx="4583887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aptitude|technical1|</a:t>
            </a:r>
            <a:endParaRPr lang="en-US" sz="95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coding|gd|technical2|hr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=100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questionId, selectedAnswer,</a:t>
            </a:r>
            <a:endParaRPr lang="en-US" sz="95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isCorrect, timeTaken }]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servedQuestions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questionId, ans }]</a:t>
            </a:r>
            <a:endParaRPr lang="en-US" sz="95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answer key — never sent to client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pending|in-progress|</a:t>
            </a:r>
            <a:endParaRPr lang="en-US" sz="95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completed|skipped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feedback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8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QuestionBank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curated question pool — one model holding MCQ, HR, and coding questions; mentor-verified.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aptitude|technical|hr|coding, req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(e.g. 'dsa', 'dbms')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difficulty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easy|medium|hard =medium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(MCQ / HR prompt)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[String]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explanation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(coding)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(coding)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input, output, explanation }]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testCases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input, expectedOutput }]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boilerplate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javascript, python, cpp, java, c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Boolean =true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flexible model serves all question shapes: MCQs reuse q / opts / ans; HR reuses q; coding uses title / testCases / boilerplate. The verified flag marks mentor-approved items.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(self-contained — no refs)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{type, difficulty}  — for sampling rounds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9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CodingQuestion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standalone coding problem, tagged by topic and target company.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difficulty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easy|medium|hard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Topic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companyTags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[ObjectId → Company]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sampleInput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sampleOutput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the coding practice library and mock interviews. (Its coding shape overlaps QuestionBank — consolidating the two is a planned cleanup.)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 → Topic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companyTags → Company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10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CodeSubmission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code run inside a mock interview — the code, its output, and a score.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mockInterview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MockInterview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CodingQuestion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language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what a candidate ran during a coding round (executed in the Judge0 sandbox) so it can be reviewed and scored afterwards.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mockInterview → MockInterview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 → CodingQuestion · user → User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11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ResumeDraft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structured résumé a student builds — every section embedded in one document.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User, req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='Untitled Resume'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modern|classic|creative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personalInfo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fullName, email, phone, location,</a:t>
            </a:r>
            <a:endParaRPr lang="en-US" sz="95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linkedin, github, portfolio, summary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institution, degree, field,</a:t>
            </a:r>
            <a:endParaRPr lang="en-US" sz="95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startDate, endDate, gpa }]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company, position, startDate,</a:t>
            </a:r>
            <a:endParaRPr lang="en-US" sz="95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endDate, current, description }]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[String]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name, description,</a:t>
            </a:r>
            <a:endParaRPr lang="en-US" sz="95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technologies, link }]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certifications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name, issuer, date }]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coverLetter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template, content,</a:t>
            </a:r>
            <a:endParaRPr lang="en-US" sz="95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jobTitle, companyName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jobDescription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lastGenerated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(pre-save hook)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résumé lives in one document (embedded sections) so it loads and saves in a single read/write. AI fills in content; export to DOCX/PDF on the client.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→ User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12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ResumeAnalysis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ATS report scoring a résumé against a specific job description.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resumeUrl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jobDescription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matchScore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missingKeywords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[String]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suggestions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redFlags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[String]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starSuggestions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[String]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result of comparing an uploaded résumé to a JD: a match score, missing keywords, red flags, and STAR-format improvement suggestions.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→ User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13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Topic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subject tag (e.g. DSA, DBMS, OS) used to organise resources and questions.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String, required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createdBy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two tagging dimensions across the platform. Resources, coding questions, learning paths and progress are all keyed by topic.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createdBy → User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referenced by Resource, CodingQuestion, ...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14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 company with its interview pattern; used to focus preparation.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String, required, unique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interviewPattern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difficultyLevel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tagging dimension. Sessions, mock interviews, the Interview Game and resources can all be "focused" on a company.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referenced by MentorshipSession,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MockInterview, InterviewGame, Resource ...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(unique)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15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mentor-uploaded study material, tagged by topic, company and level.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Topic,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beginner|intermediate|advanced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resourceType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video|article|pdf|link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fileUrl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uploadedBy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companyTag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Company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trusted, curated library. uploadedBy is the ownership field the access checks use so only the uploader (or an admin) can edit or delete it.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 → Topic · companyTag → Company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uploadedBy → User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{topic, level} · {uploadedBy} · {createdAt: -1}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16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LearningPath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ordered study path through a topic's resources; AI can generate it. Steps embedded.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48640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491947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Topic,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beginner|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intermediate|advanced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[stepSchema]  →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totalSteps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completedSteps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 =0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aiGenerated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Boolean =false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15081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235915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EMBEDDED · stepSchema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93408" y="2724912"/>
            <a:ext cx="4583887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Number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Resource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resourceTitle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resourceLink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estimatedTime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Boolean =false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17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mentee's running progress: completed resources, interview-score averages, per-topic %.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mentee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User, req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completedResources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[ObjectId → Resource]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mockInterviewStats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technicalScoreAvg =0,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hrScoreAvg =0,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gdScoreAvg =0 }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topicProgress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[{ topic → Topic,</a:t>
            </a:r>
            <a:endParaRPr lang="en-US" sz="1100" dirty="0"/>
          </a:p>
          <a:p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percentage =0 }]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the analytics dashboard and makes "is this student improving?" answerable — the measurement the whole platform is built to provide.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mentee → User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completedResources → Resource · topic → Topic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{mentee}  — looked up per student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 · SCHEMA 18 / 18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Notification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/ email alert for a key event; auto-deleted after 90 days via a TTL index.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658368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724912"/>
            <a:ext cx="60167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ObjectId → User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String, required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enum session|mock|resource|general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isRead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Boolean =false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3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 =now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194560"/>
            <a:ext cx="4053535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0" y="2194560"/>
            <a:ext cx="54864" cy="37033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3591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 FOR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706624"/>
            <a:ext cx="3504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Notifies users of bookings, approvals, new resources, etc. A TTL index lets MongoDB purge old notifications automatically — no cron job needed.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0" y="4032504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0" y="4325112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653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→ User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0" y="51023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5376672"/>
            <a:ext cx="3504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{user, createdAt: -1} · {user, isRead}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TTL on createdAt (90 days)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517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54864" cy="11430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432304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(React SPA)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816352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axios · Socket.IO · PeerJS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26334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794760" y="2286000"/>
            <a:ext cx="26517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94760" y="2286000"/>
            <a:ext cx="54864" cy="11430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2" name="Text 10"/>
          <p:cNvSpPr/>
          <p:nvPr/>
        </p:nvSpPr>
        <p:spPr>
          <a:xfrm>
            <a:off x="3904488" y="2432304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(Node.js)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904488" y="2816352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Express + Socket.IO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46520" y="26334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949440" y="2286000"/>
            <a:ext cx="21031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49440" y="2286000"/>
            <a:ext cx="54864" cy="114300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7" name="Text 15"/>
          <p:cNvSpPr/>
          <p:nvPr/>
        </p:nvSpPr>
        <p:spPr>
          <a:xfrm>
            <a:off x="7059168" y="2432304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059168" y="281635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52560" y="26334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555480" y="2286000"/>
            <a:ext cx="199339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555480" y="2286000"/>
            <a:ext cx="54864" cy="11430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2" name="Text 20"/>
          <p:cNvSpPr/>
          <p:nvPr/>
        </p:nvSpPr>
        <p:spPr>
          <a:xfrm>
            <a:off x="9665208" y="2432304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665208" y="281635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88620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3886200"/>
            <a:ext cx="54864" cy="9601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03250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/ Gemini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49808" y="441655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6432" y="388620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456432" y="3886200"/>
            <a:ext cx="54864" cy="9601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30" name="Text 28"/>
          <p:cNvSpPr/>
          <p:nvPr/>
        </p:nvSpPr>
        <p:spPr>
          <a:xfrm>
            <a:off x="3566160" y="403250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Judge0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566160" y="441655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sandbox exec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72784" y="388620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272784" y="3886200"/>
            <a:ext cx="54864" cy="9601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34" name="Text 32"/>
          <p:cNvSpPr/>
          <p:nvPr/>
        </p:nvSpPr>
        <p:spPr>
          <a:xfrm>
            <a:off x="6382512" y="403250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382512" y="441655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P2P video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089136" y="3886200"/>
            <a:ext cx="2560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089136" y="3886200"/>
            <a:ext cx="54864" cy="96012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38" name="Text 36"/>
          <p:cNvSpPr/>
          <p:nvPr/>
        </p:nvSpPr>
        <p:spPr>
          <a:xfrm>
            <a:off x="9198864" y="403250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9198864" y="441655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516636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server: middleware → routing → auth/validate → handler → model → error handler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JWT auth → horizontally scalable; video flows peer-to-peer, not through the server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APPROACH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54864" cy="10515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78308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 </a:t>
            </a:r>
            <a:pPr indent="0" marL="0">
              <a:buNone/>
            </a:pPr>
            <a:r>
              <a:rPr lang="en-US" sz="1800" b="1" dirty="0">
                <a:solidFill>
                  <a:srgbClr val="1B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 the existing app in place — don’t rewrite.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2971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Feature-complete but not yet safe. Rewriting wastes working code and risks the student handoff.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886200"/>
            <a:ext cx="54864" cy="169164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41056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Security-first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59536" y="45994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exploitable issues before any polish.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34256" y="38862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34256" y="3886200"/>
            <a:ext cx="54864" cy="169164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6" name="Text 14"/>
          <p:cNvSpPr/>
          <p:nvPr/>
        </p:nvSpPr>
        <p:spPr>
          <a:xfrm>
            <a:off x="4553712" y="41056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Small, safe increments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53712" y="45994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change is backward-compatible and reuses shared helpers.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28432" y="38862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28432" y="3886200"/>
            <a:ext cx="54864" cy="169164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0" name="Text 18"/>
          <p:cNvSpPr/>
          <p:nvPr/>
        </p:nvSpPr>
        <p:spPr>
          <a:xfrm>
            <a:off x="8247888" y="41056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before “done”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47888" y="45994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marked complete without an observed test pass.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COMPLETED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&amp; Security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4924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74520"/>
            <a:ext cx="54864" cy="3794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251460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Boot-time environment validation (fail fast)</a:t>
            </a:r>
            <a:endParaRPr lang="en-US" sz="13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 + per-request request IDs</a:t>
            </a:r>
            <a:endParaRPr lang="en-US" sz="13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error handling (correct 4xx vs 5xx)</a:t>
            </a:r>
            <a:endParaRPr lang="en-US" sz="13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request validation</a:t>
            </a:r>
            <a:endParaRPr lang="en-US" sz="13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rate limiting (auth / AI / code-exec)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874520"/>
            <a:ext cx="534924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55080" y="1874520"/>
            <a:ext cx="54864" cy="379476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11" name="Text 9"/>
          <p:cNvSpPr/>
          <p:nvPr/>
        </p:nvSpPr>
        <p:spPr>
          <a:xfrm>
            <a:off x="6647688" y="20848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SECURITY-CRITICAL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47688" y="251460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Server-authoritative scoring (no forgery)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Code-exec sandbox (no RCE in production)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JWT authentication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ownership access control (fixed IDORs)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Stored-XSS fix in emails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strong passwords, lockout, reset, token invalidation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COMPLETED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Correctness, Scale &amp; Proof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0292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74520"/>
            <a:ext cx="54864" cy="3794760"/>
          </a:xfrm>
          <a:prstGeom prst="rect">
            <a:avLst/>
          </a:prstGeom>
          <a:solidFill>
            <a:srgbClr val="3C4A52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C4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CORRECTNESS &amp; SCALE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32688" y="2514600"/>
            <a:ext cx="45720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on 8 hot collections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TTL on notifications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slot booking (race eliminated)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helper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in Docker for dev &amp; testing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35040" y="20299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 AGAINST A REAL (DOCKER) MONGODB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251460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35040" y="251460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2" name="Text 10"/>
          <p:cNvSpPr/>
          <p:nvPr/>
        </p:nvSpPr>
        <p:spPr>
          <a:xfrm>
            <a:off x="6144768" y="2734056"/>
            <a:ext cx="2478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/ 9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144768" y="3465576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 tests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251460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006840" y="251460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6" name="Text 14"/>
          <p:cNvSpPr/>
          <p:nvPr/>
        </p:nvSpPr>
        <p:spPr>
          <a:xfrm>
            <a:off x="9116568" y="2734056"/>
            <a:ext cx="2478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/ 6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16568" y="3465576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Access-control tests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35040" y="420624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420624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0" name="Text 18"/>
          <p:cNvSpPr/>
          <p:nvPr/>
        </p:nvSpPr>
        <p:spPr>
          <a:xfrm>
            <a:off x="6144768" y="4425696"/>
            <a:ext cx="2478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 / 409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144768" y="5157216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race: one wins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06840" y="4206240"/>
            <a:ext cx="2697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06840" y="4206240"/>
            <a:ext cx="54864" cy="1417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4" name="Text 22"/>
          <p:cNvSpPr/>
          <p:nvPr/>
        </p:nvSpPr>
        <p:spPr>
          <a:xfrm>
            <a:off x="9116568" y="4425696"/>
            <a:ext cx="2478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6E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116568" y="5157216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builds confirmed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035040" y="577900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claimed “done” without observing the test pass.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03504"/>
            <a:ext cx="146304" cy="14630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PLANNED WORK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Planned Improvements &amp; Features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features and improvements planned on top of the secured Week-1 foundations.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257860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0312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&amp; Correctness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12140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for realtime scale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on all lists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AI JSON parsing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atomic writes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2103120"/>
            <a:ext cx="257860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210312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2" name="Text 10"/>
          <p:cNvSpPr/>
          <p:nvPr/>
        </p:nvSpPr>
        <p:spPr>
          <a:xfrm>
            <a:off x="3602736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Realtime &amp; UX Polish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21024" y="3291840"/>
            <a:ext cx="212140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video for strict NATs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Reconnect realtime wiring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/ mobile pass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&amp; error states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2103120"/>
            <a:ext cx="257860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210312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6" name="Text 14"/>
          <p:cNvSpPr/>
          <p:nvPr/>
        </p:nvSpPr>
        <p:spPr>
          <a:xfrm>
            <a:off x="6345936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64224" y="3291840"/>
            <a:ext cx="212140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metrics endpoints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&amp; restore drill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69680" y="2103120"/>
            <a:ext cx="257860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  <a:prstDash val="solid"/>
          </a:ln>
          <a:effectLst>
            <a:outerShdw sx="100000" sy="100000" kx="0" ky="0" algn="bl" rotWithShape="0" blurRad="88900" dist="25400" dir="5400000">
              <a:srgbClr val="B9B6AD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869680" y="2103120"/>
            <a:ext cx="54864" cy="370332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20" name="Text 18"/>
          <p:cNvSpPr/>
          <p:nvPr/>
        </p:nvSpPr>
        <p:spPr>
          <a:xfrm>
            <a:off x="9089136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&amp; Handoff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07424" y="3291840"/>
            <a:ext cx="212140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Dockerized prod deploy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(TLS) + PM2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runbook &amp; docs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46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guide for next batch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·  Placement Resources &amp; Interview Skill Manager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C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2331720"/>
            <a:ext cx="548640" cy="128016"/>
          </a:xfrm>
          <a:prstGeom prst="rect">
            <a:avLst/>
          </a:prstGeom>
          <a:solidFill>
            <a:srgbClr val="6FB9AC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2606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CEA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033272" y="3886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· Workflow · Requirements · Database (18 schemas) · Architecture · Approach   +   secured &amp; tested foundations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51560" y="4709160"/>
            <a:ext cx="10058400" cy="0"/>
          </a:xfrm>
          <a:prstGeom prst="line">
            <a:avLst/>
          </a:prstGeom>
          <a:noFill/>
          <a:ln w="12700">
            <a:solidFill>
              <a:srgbClr val="3A46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Melvin Denish  ·  CSE  ·  Week 1 Review  ·  Questions welcome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CSE Department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PRISM — Week 1 Review</dc:title>
  <dc:subject>PptxGenJS Presentation</dc:subject>
  <dc:creator>L. Melvin Denish</dc:creator>
  <cp:lastModifiedBy>L. Melvin Denish</cp:lastModifiedBy>
  <cp:revision>1</cp:revision>
  <dcterms:created xsi:type="dcterms:W3CDTF">2026-06-06T08:00:03Z</dcterms:created>
  <dcterms:modified xsi:type="dcterms:W3CDTF">2026-06-06T08:00:03Z</dcterms:modified>
</cp:coreProperties>
</file>